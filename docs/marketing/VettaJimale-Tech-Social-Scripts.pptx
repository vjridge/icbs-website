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VettaJimale.Tech</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15 social scripts</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Original draft + full revision. Swipe in PowerPoint, or open the Word file to copy-paste captions.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Start here</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How to use this deck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Each script has: original, why it was thin, then the revision you record.</a:t>
            </a:r>
          </a:p>
          <a:p>
            <a:pPr>
              <a:spcAft>
                <a:spcPts val="1000"/>
              </a:spcAft>
              <a:defRPr sz="2200" b="0">
                <a:solidFill>
                  <a:srgbClr val="1C1C1C"/>
                </a:solidFill>
                <a:latin typeface="Calibri"/>
              </a:defRPr>
            </a:pPr>
            <a:r>
              <a:t>Record scripts 2, 5, 10, 11, and 15 if you only shoot five.</a:t>
            </a:r>
          </a:p>
          <a:p>
            <a:pPr>
              <a:spcAft>
                <a:spcPts val="1000"/>
              </a:spcAft>
              <a:defRPr sz="2200" b="0">
                <a:solidFill>
                  <a:srgbClr val="1C1C1C"/>
                </a:solidFill>
                <a:latin typeface="Calibri"/>
              </a:defRPr>
            </a:pPr>
            <a:r>
              <a:t>Put links in the first comment. Hold the URL on screen long enough to screenshot.</a:t>
            </a:r>
          </a:p>
          <a:p>
            <a:pPr>
              <a:spcAft>
                <a:spcPts val="1000"/>
              </a:spcAft>
              <a:defRPr sz="2200" b="0">
                <a:solidFill>
                  <a:srgbClr val="1C1C1C"/>
                </a:solidFill>
                <a:latin typeface="Calibri"/>
              </a:defRPr>
            </a:pPr>
            <a:r>
              <a:t>Do not promise a newsletter. Stay curious is not open yet.</a:t>
            </a:r>
          </a:p>
          <a:p>
            <a:pPr>
              <a:spcAft>
                <a:spcPts val="1000"/>
              </a:spcAft>
              <a:defRPr sz="2200" b="0">
                <a:solidFill>
                  <a:srgbClr val="1C1C1C"/>
                </a:solidFill>
                <a:latin typeface="Calibri"/>
              </a:defRPr>
            </a:pPr>
            <a:r>
              <a:t>Do not say “three free chapters.” Say “previews from three chapters.”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The five jobs</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What these 15 posts are for</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1–3  Find it: what it is, how to spell it, the stance.</a:t>
            </a:r>
          </a:p>
          <a:p>
            <a:pPr>
              <a:spcAft>
                <a:spcPts val="1000"/>
              </a:spcAft>
              <a:defRPr sz="2200" b="0">
                <a:solidFill>
                  <a:srgbClr val="1C1C1C"/>
                </a:solidFill>
                <a:latin typeface="Calibri"/>
              </a:defRPr>
            </a:pPr>
            <a:r>
              <a:t>4–8  What’s on it: map, live tools, kit vs book, essay, receipts.</a:t>
            </a:r>
          </a:p>
          <a:p>
            <a:pPr>
              <a:spcAft>
                <a:spcPts val="1000"/>
              </a:spcAft>
              <a:defRPr sz="2200" b="0">
                <a:solidFill>
                  <a:srgbClr val="1C1C1C"/>
                </a:solidFill>
                <a:latin typeface="Calibri"/>
              </a:defRPr>
            </a:pPr>
            <a:r>
              <a:t>9–12  How to use it: first visit, literacy check, templates, tools.</a:t>
            </a:r>
          </a:p>
          <a:p>
            <a:pPr>
              <a:spcAft>
                <a:spcPts val="1000"/>
              </a:spcAft>
              <a:defRPr sz="2200" b="0">
                <a:solidFill>
                  <a:srgbClr val="1C1C1C"/>
                </a:solidFill>
                <a:latin typeface="Calibri"/>
              </a:defRPr>
            </a:pPr>
            <a:r>
              <a:t>13–15  Why follow: filter, weekly habit, pinned film.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1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What it is (name + door)</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Tell a stranger, in one sitting, who this is for, what the site is, and the exact URL.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People drowning in AI advice who have never heard the name Vetta Jimale.</a:t>
            </a:r>
          </a:p>
          <a:p>
            <a:pPr>
              <a:spcAft>
                <a:spcPts val="1000"/>
              </a:spcAft>
              <a:defRPr sz="2000" b="0">
                <a:solidFill>
                  <a:srgbClr val="1C1C1C"/>
                </a:solidFill>
                <a:latin typeface="Calibri"/>
              </a:defRPr>
            </a:pPr>
            <a:r>
              <a:t>Platform: Reel / TikTok / Shorts, 35–50 seconds. Also usable as a pinned “who is this” video.</a:t>
            </a:r>
          </a:p>
          <a:p>
            <a:pPr>
              <a:spcAft>
                <a:spcPts val="1000"/>
              </a:spcAft>
              <a:defRPr sz="2000" b="0">
                <a:solidFill>
                  <a:srgbClr val="1C1C1C"/>
                </a:solidFill>
                <a:latin typeface="Calibri"/>
              </a:defRPr>
            </a:pPr>
            <a:r>
              <a:t>Show: Talking head, then cut to the homepage hero (“Tech is moving. Let’s make sense of it.”), then Resources. End on the URL as a full-screen card. Spell the name on screen the whole time — VettaJimale is easy to mis-hear.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If you search “AI tips” you get a thousand people shouting.</a:t>
            </a:r>
          </a:p>
          <a:p>
            <a:pPr>
              <a:spcAft>
                <a:spcPts val="1000"/>
              </a:spcAft>
              <a:defRPr sz="2200" b="0">
                <a:solidFill>
                  <a:srgbClr val="1C1C1C"/>
                </a:solidFill>
                <a:latin typeface="Calibri"/>
              </a:defRPr>
            </a:pPr>
            <a:r>
              <a:t>VettaJimale.Tech is VJ’s place for the opposite: test the claim, keep what actually works.</a:t>
            </a:r>
          </a:p>
          <a:p>
            <a:pPr>
              <a:spcAft>
                <a:spcPts val="1000"/>
              </a:spcAft>
              <a:defRPr sz="2200" b="0">
                <a:solidFill>
                  <a:srgbClr val="1C1C1C"/>
                </a:solidFill>
                <a:latin typeface="Calibri"/>
              </a:defRPr>
            </a:pPr>
            <a:r>
              <a:t>Writer. Marketer. Creator. Hands-on AI builder.</a:t>
            </a:r>
          </a:p>
          <a:p>
            <a:pPr>
              <a:spcAft>
                <a:spcPts val="1000"/>
              </a:spcAft>
              <a:defRPr sz="2200" b="0">
                <a:solidFill>
                  <a:srgbClr val="1C1C1C"/>
                </a:solidFill>
                <a:latin typeface="Calibri"/>
              </a:defRPr>
            </a:pPr>
            <a:r>
              <a:t>Type VettaJimale.Tech. Start at Resources.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The original names the contrast but never proves it. A stranger still does not know whether this is a blog, a shop, a course, or a personal brand. There is no first action besides “type the URL,” and no picture of what happens after they arrive.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Most AI pages want your email before they have earned a minute of your time. This one is built the other way around.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If you search AI tips, you get a thousand people shouting the same five tools at you.</a:t>
            </a:r>
          </a:p>
          <a:p>
            <a:pPr>
              <a:spcAft>
                <a:spcPts val="1000"/>
              </a:spcAft>
              <a:defRPr sz="2000" b="0">
                <a:solidFill>
                  <a:srgbClr val="1C1C1C"/>
                </a:solidFill>
                <a:latin typeface="Calibri"/>
              </a:defRPr>
            </a:pPr>
            <a:r>
              <a:t>VettaJimale.Tech is the opposite of that feed. It is Vetta Jimale’s working site — VJ — a writer, marketer, creator, and hands-on AI builder. The job of the site is simple: make sense of technology that is moving too fast, then hand you something you can use on a real project.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You will not find a membership wall on the front door. You will find Resources: essays, a short literacy check, fillable templates, and a tools shelf organized by the job, not by the hype cycle. You will also find a free starter kit for building with Claude Code and Cursor, and a full book — I Call BS: AI Vibe Coding Myths Dispelled — if you want the complete how. The kit stays free either way.</a:t>
            </a:r>
          </a:p>
          <a:p>
            <a:pPr>
              <a:spcAft>
                <a:spcPts val="1000"/>
              </a:spcAft>
              <a:defRPr sz="2000" b="0">
                <a:solidFill>
                  <a:srgbClr val="1C1C1C"/>
                </a:solidFill>
                <a:latin typeface="Calibri"/>
              </a:defRPr>
            </a:pPr>
            <a:r>
              <a:t>Here is the door. Type VettaJimale.Tech. One word, then dot tech. Open Explore Resources. Pick one thing. Do it on the project you already have, not on a fantasy app you will start “someday.”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(3)</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That is what this place is. Not a guru funnel. A public workbench.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0–3s: “Not another AI tips page”</a:t>
            </a:r>
          </a:p>
          <a:p>
            <a:pPr>
              <a:spcAft>
                <a:spcPts val="1000"/>
              </a:spcAft>
              <a:defRPr sz="2000" b="0">
                <a:solidFill>
                  <a:srgbClr val="1C1C1C"/>
                </a:solidFill>
                <a:latin typeface="Calibri"/>
              </a:defRPr>
            </a:pPr>
            <a:r>
              <a:t>3–12s: “VettaJimale.Tech” + “VJ — writer, marketer, creator, AI builder”</a:t>
            </a:r>
          </a:p>
          <a:p>
            <a:pPr>
              <a:spcAft>
                <a:spcPts val="1000"/>
              </a:spcAft>
              <a:defRPr sz="2000" b="0">
                <a:solidFill>
                  <a:srgbClr val="1C1C1C"/>
                </a:solidFill>
                <a:latin typeface="Calibri"/>
              </a:defRPr>
            </a:pPr>
            <a:r>
              <a:t>12–28s: three tiles — Resources / Free kit / Book</a:t>
            </a:r>
          </a:p>
          <a:p>
            <a:pPr>
              <a:spcAft>
                <a:spcPts val="1000"/>
              </a:spcAft>
              <a:defRPr sz="2000" b="0">
                <a:solidFill>
                  <a:srgbClr val="1C1C1C"/>
                </a:solidFill>
                <a:latin typeface="Calibri"/>
              </a:defRPr>
            </a:pPr>
            <a:r>
              <a:t>28–end: URL card — VettaJimale.Tech → Explore Resources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VettaJimale.Tech is VJ’s working site for people who are tired of AI advice that never gets checked. Writer, marketer, creator, hands-on builder. Resources you can use without buying. A free kit if you are starting with Claude Code and Cursor. A $17 book if you want the full argument. Type the name. Start at Resources.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URL: https://vettaJimale.tech  — start at Resources. Free kit is a separate door if you want the PDF.</a:t>
            </a:r>
          </a:p>
          <a:p>
            <a:pPr>
              <a:spcAft>
                <a:spcPts val="1000"/>
              </a:spcAft>
              <a:defRPr sz="1800" b="0">
                <a:solidFill>
                  <a:srgbClr val="1C1C1C"/>
                </a:solidFill>
                <a:latin typeface="Calibri"/>
              </a:defRPr>
            </a:pPr>
            <a:r>
              <a:t>Call to action: Type VettaJimale.Tech. Tap Explore Resources. Do one thing today.</a:t>
            </a:r>
          </a:p>
          <a:p>
            <a:pPr>
              <a:spcAft>
                <a:spcPts val="1000"/>
              </a:spcAft>
              <a:defRPr sz="1800" b="0">
                <a:solidFill>
                  <a:srgbClr val="1C1C1C"/>
                </a:solidFill>
                <a:latin typeface="Calibri"/>
              </a:defRPr>
            </a:pPr>
            <a:r>
              <a:t>Do not say: Do not call it a community, a newsletter, or a course. The Stay curious list is not open yet. Do not promise daily posts.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2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How to find it (spelling and search)</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Make the name unforgettable and searchable so a spoken video actually converts.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2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Anyone who heard the name in a video, a conversation, or a live and will lose it in an hour.</a:t>
            </a:r>
          </a:p>
          <a:p>
            <a:pPr>
              <a:spcAft>
                <a:spcPts val="1000"/>
              </a:spcAft>
              <a:defRPr sz="2000" b="0">
                <a:solidFill>
                  <a:srgbClr val="1C1C1C"/>
                </a:solidFill>
                <a:latin typeface="Calibri"/>
              </a:defRPr>
            </a:pPr>
            <a:r>
              <a:t>Platform: 15–25s Reel plus a Story with a link sticker. Repeat this as a B-roll bumper on longer videos.</a:t>
            </a:r>
          </a:p>
          <a:p>
            <a:pPr>
              <a:spcAft>
                <a:spcPts val="1000"/>
              </a:spcAft>
              <a:defRPr sz="2000" b="0">
                <a:solidFill>
                  <a:srgbClr val="1C1C1C"/>
                </a:solidFill>
                <a:latin typeface="Calibri"/>
              </a:defRPr>
            </a:pPr>
            <a:r>
              <a:t>Show: Full-screen kinetic type: VETTA / JIMALE / .TECH. Show a search bar being typed. Show the homepage loading. Hold the last frame for three seconds so people can screenshot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2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The name is Vetta Jimale. One word on the web: VettaJimale.Tech.</a:t>
            </a:r>
          </a:p>
          <a:p>
            <a:pPr>
              <a:spcAft>
                <a:spcPts val="1000"/>
              </a:spcAft>
              <a:defRPr sz="2200" b="0">
                <a:solidFill>
                  <a:srgbClr val="1C1C1C"/>
                </a:solidFill>
                <a:latin typeface="Calibri"/>
              </a:defRPr>
            </a:pPr>
            <a:r>
              <a:t>Not a course mill. A working site: articles, tools, templates, a free kit, and a book when you want the full how.</a:t>
            </a:r>
          </a:p>
          <a:p>
            <a:pPr>
              <a:spcAft>
                <a:spcPts val="1000"/>
              </a:spcAft>
              <a:defRPr sz="2200" b="0">
                <a:solidFill>
                  <a:srgbClr val="1C1C1C"/>
                </a:solidFill>
                <a:latin typeface="Calibri"/>
              </a:defRPr>
            </a:pPr>
            <a:r>
              <a:t>Save this. Search it once. Bookmark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2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Spelling is the right insight, but the original is a mnemonic without a reason to save it. People remember names when they attach them to a job (“the site where you check ‘done’”) and a visual spelling, not when they are told to bookmark.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2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If you only remember one thing from this video, remember how to find the site.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2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The person is Vetta Jimale. Two words when you say it. One word when you type it.</a:t>
            </a:r>
          </a:p>
          <a:p>
            <a:pPr>
              <a:spcAft>
                <a:spcPts val="1000"/>
              </a:spcAft>
              <a:defRPr sz="2000" b="0">
                <a:solidFill>
                  <a:srgbClr val="1C1C1C"/>
                </a:solidFill>
                <a:latin typeface="Calibri"/>
              </a:defRPr>
            </a:pPr>
            <a:r>
              <a:t>V-E-T-T-A-J-I-M-A-L-E dot T-E-C-H. VettaJimale.Tech.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2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If you Google “vibe coding myths” or “before you accept done,” you should land in the same place. If a search goes sideways, type the name. Do not hunt for a handle and hope.</a:t>
            </a:r>
          </a:p>
          <a:p>
            <a:pPr>
              <a:spcAft>
                <a:spcPts val="1000"/>
              </a:spcAft>
              <a:defRPr sz="2000" b="0">
                <a:solidFill>
                  <a:srgbClr val="1C1C1C"/>
                </a:solidFill>
                <a:latin typeface="Calibri"/>
              </a:defRPr>
            </a:pPr>
            <a:r>
              <a:t>What you are looking for is not a course mill and not a link-in-bio dump. It is a working site: a resource library, fillable templates, a literacy check, a free starter kit, and a book if you want the complete how.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2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(3)</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Save this video. Screenshot the last frame. Search it once. Bookmark it. The next time an AI tells you something is done, you will know where to go.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2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Hold “VettaJimale.Tech” for the full runtime.</a:t>
            </a:r>
          </a:p>
          <a:p>
            <a:pPr>
              <a:spcAft>
                <a:spcPts val="1000"/>
              </a:spcAft>
              <a:defRPr sz="2000" b="0">
                <a:solidFill>
                  <a:srgbClr val="1C1C1C"/>
                </a:solidFill>
                <a:latin typeface="Calibri"/>
              </a:defRPr>
            </a:pPr>
            <a:r>
              <a:t>Second line: “One word. Dot tech.”</a:t>
            </a:r>
          </a:p>
          <a:p>
            <a:pPr>
              <a:spcAft>
                <a:spcPts val="1000"/>
              </a:spcAft>
              <a:defRPr sz="2000" b="0">
                <a:solidFill>
                  <a:srgbClr val="1C1C1C"/>
                </a:solidFill>
                <a:latin typeface="Calibri"/>
              </a:defRPr>
            </a:pPr>
            <a:r>
              <a:t>Last three seconds: frozen URL card, high contrast, no music swell that drowns the type.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2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How to find it: Vetta Jimale is the person. VettaJimale.Tech is the site. One word, then dot tech. Resources, templates, literacy check, free kit, book. Save this so you are not hunting later.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2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Spelling: VettaJimale.Tech — V-E-T-T-A-J-I-M-A-L-E . T-E-C-H</a:t>
            </a:r>
          </a:p>
          <a:p>
            <a:pPr>
              <a:spcAft>
                <a:spcPts val="1000"/>
              </a:spcAft>
              <a:defRPr sz="1800" b="0">
                <a:solidFill>
                  <a:srgbClr val="1C1C1C"/>
                </a:solidFill>
                <a:latin typeface="Calibri"/>
              </a:defRPr>
            </a:pPr>
            <a:r>
              <a:t>Call to action: Screenshot the last frame. Open the URL once so it sits in your history.</a:t>
            </a:r>
          </a:p>
          <a:p>
            <a:pPr>
              <a:spcAft>
                <a:spcPts val="1000"/>
              </a:spcAft>
              <a:defRPr sz="1800" b="0">
                <a:solidFill>
                  <a:srgbClr val="1C1C1C"/>
                </a:solidFill>
                <a:latin typeface="Calibri"/>
              </a:defRPr>
            </a:pPr>
            <a:r>
              <a:t>Do not say: Do not rush the spelling. Do not overlay too many other words. This post has one job: retrieval.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3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What it is, in one line — with proof</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Turn the site’s headline into a complete argument, not a quote card with no body.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3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Scrollers who will give a static post four seconds, or a carousel twenty.</a:t>
            </a:r>
          </a:p>
          <a:p>
            <a:pPr>
              <a:spcAft>
                <a:spcPts val="1000"/>
              </a:spcAft>
              <a:defRPr sz="2000" b="0">
                <a:solidFill>
                  <a:srgbClr val="1C1C1C"/>
                </a:solidFill>
                <a:latin typeface="Calibri"/>
              </a:defRPr>
            </a:pPr>
            <a:r>
              <a:t>Platform: Carousel (preferred) or a quote card with a long caption. LinkedIn-friendly.</a:t>
            </a:r>
          </a:p>
          <a:p>
            <a:pPr>
              <a:spcAft>
                <a:spcPts val="1000"/>
              </a:spcAft>
              <a:defRPr sz="2000" b="0">
                <a:solidFill>
                  <a:srgbClr val="1C1C1C"/>
                </a:solidFill>
                <a:latin typeface="Calibri"/>
              </a:defRPr>
            </a:pPr>
            <a:r>
              <a:t>Show: Slide 1 is the headline on the dark green field. Slides 2–4 are the three proofs. Slide 5 is the URL and the first action.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3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Tech is moving. Let’s make sense of it.</a:t>
            </a:r>
          </a:p>
          <a:p>
            <a:pPr>
              <a:spcAft>
                <a:spcPts val="1000"/>
              </a:spcAft>
              <a:defRPr sz="2200" b="0">
                <a:solidFill>
                  <a:srgbClr val="1C1C1C"/>
                </a:solidFill>
                <a:latin typeface="Calibri"/>
              </a:defRPr>
            </a:pPr>
            <a:r>
              <a:t>That’s the site. Practical notes from someone who actually builds with the tools.</a:t>
            </a:r>
          </a:p>
          <a:p>
            <a:pPr>
              <a:spcAft>
                <a:spcPts val="1000"/>
              </a:spcAft>
              <a:defRPr sz="2200" b="0">
                <a:solidFill>
                  <a:srgbClr val="1C1C1C"/>
                </a:solidFill>
                <a:latin typeface="Calibri"/>
              </a:defRPr>
            </a:pPr>
            <a:r>
              <a:t>VettaJimale.Tech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3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 slogan without evidence is wallpaper. The line is strong; it needs the three proofs the homepage already offers (explore, test, keep receipts) and a next step.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3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“Tech is moving. Let’s make sense of it.” That is not a mood. It is the editorial rule.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3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The homepage opens with one sentence: Tech is moving. Let’s make sense of it.</a:t>
            </a:r>
          </a:p>
          <a:p>
            <a:pPr>
              <a:spcAft>
                <a:spcPts val="1000"/>
              </a:spcAft>
              <a:defRPr sz="2000" b="0">
                <a:solidFill>
                  <a:srgbClr val="1C1C1C"/>
                </a:solidFill>
                <a:latin typeface="Calibri"/>
              </a:defRPr>
            </a:pPr>
            <a:r>
              <a:t>Making sense, on this site, has a method. First, name what the tool actually does — not what the landing page promised. Second, try the path yourself. Third, keep what you saw, including the part that failed.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3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That is why the library is split the way it is. Ideas: AI and technology, where claims fall apart. Practice: writing, design, and the workflows around them. Work: receipts from real projects — wins, dead ends, and what changed.</a:t>
            </a:r>
          </a:p>
          <a:p>
            <a:pPr>
              <a:spcAft>
                <a:spcPts val="1000"/>
              </a:spcAft>
              <a:defRPr sz="2000" b="0">
                <a:solidFill>
                  <a:srgbClr val="1C1C1C"/>
                </a:solidFill>
                <a:latin typeface="Calibri"/>
              </a:defRPr>
            </a:pPr>
            <a:r>
              <a:t>If you only remember the line, you will forget the site. If you remember the method, you will come back when the next demo tries to sell you certainty.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3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(3)</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VettaJimale.Tech. Read the headline. Then open Resources and use the method on the thing you are building this week.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3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Slide 1: “Tech is moving. Let’s make sense of it.”</a:t>
            </a:r>
          </a:p>
          <a:p>
            <a:pPr>
              <a:spcAft>
                <a:spcPts val="1000"/>
              </a:spcAft>
              <a:defRPr sz="2000" b="0">
                <a:solidFill>
                  <a:srgbClr val="1C1C1C"/>
                </a:solidFill>
                <a:latin typeface="Calibri"/>
              </a:defRPr>
            </a:pPr>
            <a:r>
              <a:t>Slide 2: “Name what the tool actually does.”</a:t>
            </a:r>
          </a:p>
          <a:p>
            <a:pPr>
              <a:spcAft>
                <a:spcPts val="1000"/>
              </a:spcAft>
              <a:defRPr sz="2000" b="0">
                <a:solidFill>
                  <a:srgbClr val="1C1C1C"/>
                </a:solidFill>
                <a:latin typeface="Calibri"/>
              </a:defRPr>
            </a:pPr>
            <a:r>
              <a:t>Slide 3: “Try the path yourself.”</a:t>
            </a:r>
          </a:p>
          <a:p>
            <a:pPr>
              <a:spcAft>
                <a:spcPts val="1000"/>
              </a:spcAft>
              <a:defRPr sz="2000" b="0">
                <a:solidFill>
                  <a:srgbClr val="1C1C1C"/>
                </a:solidFill>
                <a:latin typeface="Calibri"/>
              </a:defRPr>
            </a:pPr>
            <a:r>
              <a:t>Slide 4: “Keep the receipt — including the failure.”</a:t>
            </a:r>
          </a:p>
          <a:p>
            <a:pPr>
              <a:spcAft>
                <a:spcPts val="1000"/>
              </a:spcAft>
              <a:defRPr sz="2000" b="0">
                <a:solidFill>
                  <a:srgbClr val="1C1C1C"/>
                </a:solidFill>
                <a:latin typeface="Calibri"/>
              </a:defRPr>
            </a:pPr>
            <a:r>
              <a:t>Slide 5: VettaJimale.Tech → Resources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3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The headline on VettaJimale.Tech is the whole point of the site: technology is moving; VJ’s job is to make sense of it in public. Not theory. A method — name the claim, try the path, keep what you saw. Resources is the door.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3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Method in four words: name it, try it, keep it, then prompt again.</a:t>
            </a:r>
          </a:p>
          <a:p>
            <a:pPr>
              <a:spcAft>
                <a:spcPts val="1000"/>
              </a:spcAft>
              <a:defRPr sz="1800" b="0">
                <a:solidFill>
                  <a:srgbClr val="1C1C1C"/>
                </a:solidFill>
                <a:latin typeface="Calibri"/>
              </a:defRPr>
            </a:pPr>
            <a:r>
              <a:t>Call to action: Open the homepage. Read the hero. Go to Resources with one current project in mind.</a:t>
            </a:r>
          </a:p>
          <a:p>
            <a:pPr>
              <a:spcAft>
                <a:spcPts val="1000"/>
              </a:spcAft>
              <a:defRPr sz="1800" b="0">
                <a:solidFill>
                  <a:srgbClr val="1C1C1C"/>
                </a:solidFill>
                <a:latin typeface="Calibri"/>
              </a:defRPr>
            </a:pPr>
            <a:r>
              <a:t>Do not say: Do not treat this as brand poetry. If you post only the quote with no method, you are back to flimsy.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4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What you’ll find — the map of the library</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Give a complete tour of the three lanes so a first-time visitor is not lost, and be honest about what is thin.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4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First-time visitors who need orientation, and returning visitors who missed a shelf.</a:t>
            </a:r>
          </a:p>
          <a:p>
            <a:pPr>
              <a:spcAft>
                <a:spcPts val="1000"/>
              </a:spcAft>
              <a:defRPr sz="2000" b="0">
                <a:solidFill>
                  <a:srgbClr val="1C1C1C"/>
                </a:solidFill>
                <a:latin typeface="Calibri"/>
              </a:defRPr>
            </a:pPr>
            <a:r>
              <a:t>Platform: Carousel, 6 slides. Can be a 45–60s walkthrough with screen recording.</a:t>
            </a:r>
          </a:p>
          <a:p>
            <a:pPr>
              <a:spcAft>
                <a:spcPts val="1000"/>
              </a:spcAft>
              <a:defRPr sz="2000" b="0">
                <a:solidFill>
                  <a:srgbClr val="1C1C1C"/>
                </a:solidFill>
                <a:latin typeface="Calibri"/>
              </a:defRPr>
            </a:pPr>
            <a:r>
              <a:t>Show: Screen record Resources. Zoom each lane. Label SAMPLE where the site labels sample. Do not fake a full Creative Tools archive.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4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VettaJimale.Tech is a library, not a dump of hot takes.</a:t>
            </a:r>
          </a:p>
          <a:p>
            <a:pPr>
              <a:spcAft>
                <a:spcPts val="1000"/>
              </a:spcAft>
              <a:defRPr sz="2200" b="0">
                <a:solidFill>
                  <a:srgbClr val="1C1C1C"/>
                </a:solidFill>
                <a:latin typeface="Calibri"/>
              </a:defRPr>
            </a:pPr>
            <a:r>
              <a:t>Ideas — AI and technology: what the tools do, where the claims fall apart.</a:t>
            </a:r>
          </a:p>
          <a:p>
            <a:pPr>
              <a:spcAft>
                <a:spcPts val="1000"/>
              </a:spcAft>
              <a:defRPr sz="2200" b="0">
                <a:solidFill>
                  <a:srgbClr val="1C1C1C"/>
                </a:solidFill>
                <a:latin typeface="Calibri"/>
              </a:defRPr>
            </a:pPr>
            <a:r>
              <a:t>Practice — creative tools and workflows.</a:t>
            </a:r>
          </a:p>
          <a:p>
            <a:pPr>
              <a:spcAft>
                <a:spcPts val="1000"/>
              </a:spcAft>
              <a:defRPr sz="2200" b="0">
                <a:solidFill>
                  <a:srgbClr val="1C1C1C"/>
                </a:solidFill>
                <a:latin typeface="Calibri"/>
              </a:defRPr>
            </a:pPr>
            <a:r>
              <a:t>Work — building in public: wins, dead ends, what changed.</a:t>
            </a:r>
          </a:p>
          <a:p>
            <a:pPr>
              <a:spcAft>
                <a:spcPts val="1000"/>
              </a:spcAft>
              <a:defRPr sz="2200" b="0">
                <a:solidFill>
                  <a:srgbClr val="1C1C1C"/>
                </a:solidFill>
                <a:latin typeface="Calibri"/>
              </a:defRPr>
            </a:pPr>
            <a:r>
              <a:t>Open Resources. Pick one lane.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4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 map with empty rooms is misleading. Creative Tools is not ready. Building in Public is started but thin. Honesty is the brand. The revision keeps the map and tells people exactly what is live so they do not bounce and decide the whole site is vapor.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4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If a resource site does not tell you what is actually published, it is performing abundance. This one will not.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4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VettaJimale.Tech is a library. It is organized on purpose, because a pile of posts is how people hide that they have nothing specific to say.</a:t>
            </a:r>
          </a:p>
          <a:p>
            <a:pPr>
              <a:spcAft>
                <a:spcPts val="1000"/>
              </a:spcAft>
              <a:defRPr sz="2000" b="0">
                <a:solidFill>
                  <a:srgbClr val="1C1C1C"/>
                </a:solidFill>
                <a:latin typeface="Calibri"/>
              </a:defRPr>
            </a:pPr>
            <a:r>
              <a:t>Three lanes. Ideas: AI and Technology — what the tools actually do, and where the claims fall apart. That shelf already has a real essay, AI is not smarter than you, and the vibe coding literacy check.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4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Practice: Creative Tools — writing, design, and the workflows around them. I will say this cleanly: that shelf is not ready yet. No posts are published there. When they are, they will be labeled like everything else. I will not pretend a calendar is a body of work.</a:t>
            </a:r>
          </a:p>
          <a:p>
            <a:pPr>
              <a:spcAft>
                <a:spcPts val="1000"/>
              </a:spcAft>
              <a:defRPr sz="2000" b="0">
                <a:solidFill>
                  <a:srgbClr val="1C1C1C"/>
                </a:solidFill>
                <a:latin typeface="Calibri"/>
              </a:defRPr>
            </a:pPr>
            <a:r>
              <a:t>Work: Building in Public — receipts from real projects. Wins, dead ends, and what changed. What is live today includes a sample tutorial, Before You Accept Done, plus the free starter kit and the templates and tools that came out of the same builds.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4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(3)</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Samples are labeled. That is not a disclaimer in six-point type. It is the point. You should always know whether you are looking at a finished piece or a starter.</a:t>
            </a:r>
          </a:p>
          <a:p>
            <a:pPr>
              <a:spcAft>
                <a:spcPts val="1000"/>
              </a:spcAft>
              <a:defRPr sz="2000" b="0">
                <a:solidFill>
                  <a:srgbClr val="1C1C1C"/>
                </a:solidFill>
                <a:latin typeface="Calibri"/>
              </a:defRPr>
            </a:pPr>
            <a:r>
              <a:t>How to use the map: open Resources, pick the lane that matches the problem you have today, and ignore the other two until you need them. Do not binge the site. Use it.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4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Slide 1: “A library, not a dump”</a:t>
            </a:r>
          </a:p>
          <a:p>
            <a:pPr>
              <a:spcAft>
                <a:spcPts val="1000"/>
              </a:spcAft>
              <a:defRPr sz="2000" b="0">
                <a:solidFill>
                  <a:srgbClr val="1C1C1C"/>
                </a:solidFill>
                <a:latin typeface="Calibri"/>
              </a:defRPr>
            </a:pPr>
            <a:r>
              <a:t>Slide 2: Ideas — live: essay + literacy check</a:t>
            </a:r>
          </a:p>
          <a:p>
            <a:pPr>
              <a:spcAft>
                <a:spcPts val="1000"/>
              </a:spcAft>
              <a:defRPr sz="2000" b="0">
                <a:solidFill>
                  <a:srgbClr val="1C1C1C"/>
                </a:solidFill>
                <a:latin typeface="Calibri"/>
              </a:defRPr>
            </a:pPr>
            <a:r>
              <a:t>Slide 3: Practice — Creative Tools: not published yet</a:t>
            </a:r>
          </a:p>
          <a:p>
            <a:pPr>
              <a:spcAft>
                <a:spcPts val="1000"/>
              </a:spcAft>
              <a:defRPr sz="2000" b="0">
                <a:solidFill>
                  <a:srgbClr val="1C1C1C"/>
                </a:solidFill>
                <a:latin typeface="Calibri"/>
              </a:defRPr>
            </a:pPr>
            <a:r>
              <a:t>Slide 4: Work — sample tutorial + kit + templates</a:t>
            </a:r>
          </a:p>
          <a:p>
            <a:pPr>
              <a:spcAft>
                <a:spcPts val="1000"/>
              </a:spcAft>
              <a:defRPr sz="2000" b="0">
                <a:solidFill>
                  <a:srgbClr val="1C1C1C"/>
                </a:solidFill>
                <a:latin typeface="Calibri"/>
              </a:defRPr>
            </a:pPr>
            <a:r>
              <a:t>Slide 5: “Samples are labeled. On purpose.”</a:t>
            </a:r>
          </a:p>
          <a:p>
            <a:pPr>
              <a:spcAft>
                <a:spcPts val="1000"/>
              </a:spcAft>
              <a:defRPr sz="2000" b="0">
                <a:solidFill>
                  <a:srgbClr val="1C1C1C"/>
                </a:solidFill>
                <a:latin typeface="Calibri"/>
              </a:defRPr>
            </a:pPr>
            <a:r>
              <a:t>Slide 6: Resources → pick one lane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4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What you will find on VettaJimale.Tech, said without inflation. Ideas (AI &amp; Technology) is live. Creative Tools is not published yet. Building in Public has a sample tutorial, the free kit, templates, and tools from real work. Samples are labeled. Open Resources. Pick one lane. Ignore the rest until you need it.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4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I would rather tell you a shelf is empty than fill it with filler. That is the standard for the whole site.</a:t>
            </a:r>
          </a:p>
          <a:p>
            <a:pPr>
              <a:spcAft>
                <a:spcPts val="1000"/>
              </a:spcAft>
              <a:defRPr sz="1800" b="0">
                <a:solidFill>
                  <a:srgbClr val="1C1C1C"/>
                </a:solidFill>
                <a:latin typeface="Calibri"/>
              </a:defRPr>
            </a:pPr>
            <a:r>
              <a:t>Call to action: Go to /resources. Choose Ideas, Practice, or Work. If Practice is empty, that is the honest answer — use Ideas or Work today.</a:t>
            </a:r>
          </a:p>
          <a:p>
            <a:pPr>
              <a:spcAft>
                <a:spcPts val="1000"/>
              </a:spcAft>
              <a:defRPr sz="1800" b="0">
                <a:solidFill>
                  <a:srgbClr val="1C1C1C"/>
                </a:solidFill>
                <a:latin typeface="Calibri"/>
              </a:defRPr>
            </a:pPr>
            <a:r>
              <a:t>Do not say: Do not show stock “coming soon” energy. Do not imply a weekly show. Do not hide the sample labels.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5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What you’ll find — the useful shelf (three live tools)</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Sell the three no-account tools with enough instruction that someone could finish one in a sitting.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5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Builders who will try one interactive thing if you remove friction.</a:t>
            </a:r>
          </a:p>
          <a:p>
            <a:pPr>
              <a:spcAft>
                <a:spcPts val="1000"/>
              </a:spcAft>
              <a:defRPr sz="2000" b="0">
                <a:solidFill>
                  <a:srgbClr val="1C1C1C"/>
                </a:solidFill>
                <a:latin typeface="Calibri"/>
              </a:defRPr>
            </a:pPr>
            <a:r>
              <a:t>Platform: 45–70s Reel with screen capture. Also a three-card carousel.</a:t>
            </a:r>
          </a:p>
          <a:p>
            <a:pPr>
              <a:spcAft>
                <a:spcPts val="1000"/>
              </a:spcAft>
              <a:defRPr sz="2000" b="0">
                <a:solidFill>
                  <a:srgbClr val="1C1C1C"/>
                </a:solidFill>
                <a:latin typeface="Calibri"/>
              </a:defRPr>
            </a:pPr>
            <a:r>
              <a:t>Show: Split: face for the why, screen for the where. Show the quiz submitting. Show a template downloading. Show a tool row with limitations visible — the limitations are the brand.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5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Three things you can use today, no account required.</a:t>
            </a:r>
          </a:p>
          <a:p>
            <a:pPr>
              <a:spcAft>
                <a:spcPts val="1000"/>
              </a:spcAft>
              <a:defRPr sz="2200" b="0">
                <a:solidFill>
                  <a:srgbClr val="1C1C1C"/>
                </a:solidFill>
                <a:latin typeface="Calibri"/>
              </a:defRPr>
            </a:pPr>
            <a:r>
              <a:t>One: Tools by job — start with the work, then the tool.</a:t>
            </a:r>
          </a:p>
          <a:p>
            <a:pPr>
              <a:spcAft>
                <a:spcPts val="1000"/>
              </a:spcAft>
              <a:defRPr sz="2200" b="0">
                <a:solidFill>
                  <a:srgbClr val="1C1C1C"/>
                </a:solidFill>
                <a:latin typeface="Calibri"/>
              </a:defRPr>
            </a:pPr>
            <a:r>
              <a:t>Two: Fillable templates — roadmap, project rules, before you accept “done.” Download Markdown or PDF.</a:t>
            </a:r>
          </a:p>
          <a:p>
            <a:pPr>
              <a:spcAft>
                <a:spcPts val="1000"/>
              </a:spcAft>
              <a:defRPr sz="2200" b="0">
                <a:solidFill>
                  <a:srgbClr val="1C1C1C"/>
                </a:solidFill>
                <a:latin typeface="Calibri"/>
              </a:defRPr>
            </a:pPr>
            <a:r>
              <a:t>Three: the vibe coding literacy check — a short quiz on claims, checks, and when to trust a “done” answer.</a:t>
            </a:r>
          </a:p>
          <a:p>
            <a:pPr>
              <a:spcAft>
                <a:spcPts val="1000"/>
              </a:spcAft>
              <a:defRPr sz="2200" b="0">
                <a:solidFill>
                  <a:srgbClr val="1C1C1C"/>
                </a:solidFill>
                <a:latin typeface="Calibri"/>
              </a:defRPr>
            </a:pPr>
            <a:r>
              <a:t>All on VettaJimale.Tech → Resources.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5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 list of product names is a menu. People need why each exists, when to choose it, and what “done using it” looks like. The original also skipped that the literacy check is twenty questions with instant feedback.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You can use three of the best things on this site without creating an account. Here is which one to pick.</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If you only have twenty minutes, do not wander. VettaJimale.Tech has three working tools on the Resources shelf, and they do different jobs.</a:t>
            </a:r>
          </a:p>
          <a:p>
            <a:pPr>
              <a:spcAft>
                <a:spcPts val="1000"/>
              </a:spcAft>
              <a:defRPr sz="2000" b="0">
                <a:solidFill>
                  <a:srgbClr val="1C1C1C"/>
                </a:solidFill>
                <a:latin typeface="Calibri"/>
              </a:defRPr>
            </a:pPr>
            <a:r>
              <a:t>If you are about to add software to a project, open Tools and Updates. It is organized by the job — newsletter, forms, checkout — not by whoever is trending. You will see what I use, what I researched, and the limits. Read the limits. That is the useful part.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If you are about to prompt, stop and open Templates. There are three fillable forms: ROADMAP, Project Rules, and Before You Accept Done. Fill them in the browser. Download Markdown if you want them in the repo. Download PDF if you want them in your hands. Then prompt. The form is the fence. The chat is not.</a:t>
            </a:r>
          </a:p>
          <a:p>
            <a:pPr>
              <a:spcAft>
                <a:spcPts val="1000"/>
              </a:spcAft>
              <a:defRPr sz="2000" b="0">
                <a:solidFill>
                  <a:srgbClr val="1C1C1C"/>
                </a:solidFill>
                <a:latin typeface="Calibri"/>
              </a:defRPr>
            </a:pPr>
            <a:r>
              <a:t>If you are not sure whether you even have the right habits yet, take the Vibe Coding Literacy Check. Twenty questions. Instant feedback. No signup. It covers reading, safety, and verification — including when not to trust a model that says “done.”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(3)</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All three live under Resources. Tools. Templates. Literacy check. Pick the one that matches the next hour of your work, not the one that looks nicest in a screenshot.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“No account required”</a:t>
            </a:r>
          </a:p>
          <a:p>
            <a:pPr>
              <a:spcAft>
                <a:spcPts val="1000"/>
              </a:spcAft>
              <a:defRPr sz="2000" b="0">
                <a:solidFill>
                  <a:srgbClr val="1C1C1C"/>
                </a:solidFill>
                <a:latin typeface="Calibri"/>
              </a:defRPr>
            </a:pPr>
            <a:r>
              <a:t>1 Tools by job — when you are adding software</a:t>
            </a:r>
          </a:p>
          <a:p>
            <a:pPr>
              <a:spcAft>
                <a:spcPts val="1000"/>
              </a:spcAft>
              <a:defRPr sz="2000" b="0">
                <a:solidFill>
                  <a:srgbClr val="1C1C1C"/>
                </a:solidFill>
                <a:latin typeface="Calibri"/>
              </a:defRPr>
            </a:pPr>
            <a:r>
              <a:t>2 Templates — when you are about to prompt</a:t>
            </a:r>
          </a:p>
          <a:p>
            <a:pPr>
              <a:spcAft>
                <a:spcPts val="1000"/>
              </a:spcAft>
              <a:defRPr sz="2000" b="0">
                <a:solidFill>
                  <a:srgbClr val="1C1C1C"/>
                </a:solidFill>
                <a:latin typeface="Calibri"/>
              </a:defRPr>
            </a:pPr>
            <a:r>
              <a:t>3 Literacy check — 20 questions, instant feedback</a:t>
            </a:r>
          </a:p>
          <a:p>
            <a:pPr>
              <a:spcAft>
                <a:spcPts val="1000"/>
              </a:spcAft>
              <a:defRPr sz="2000" b="0">
                <a:solidFill>
                  <a:srgbClr val="1C1C1C"/>
                </a:solidFill>
                <a:latin typeface="Calibri"/>
              </a:defRPr>
            </a:pPr>
            <a:r>
              <a:t>URL: VettaJimale.Tech/resources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Three things on VettaJimale.Tech you can use today without an account. Tools by job: start with the work, then the tool, and read the limits. Fillable templates: ROADMAP, Project Rules, Before You Accept Done — Markdown or PDF. Vibe Coding Literacy Check: twenty questions, instant feedback, no signup. Pick one. Do it on the project you already have.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Direct paths: /resources/tools-and-updates  /resources/templates  /resources/vibe-coding-literacy-check</a:t>
            </a:r>
          </a:p>
          <a:p>
            <a:pPr>
              <a:spcAft>
                <a:spcPts val="1000"/>
              </a:spcAft>
              <a:defRPr sz="1800" b="0">
                <a:solidFill>
                  <a:srgbClr val="1C1C1C"/>
                </a:solidFill>
                <a:latin typeface="Calibri"/>
              </a:defRPr>
            </a:pPr>
            <a:r>
              <a:t>Call to action: Choose one of the three. Set a twenty-minute timer. Finish it.</a:t>
            </a:r>
          </a:p>
          <a:p>
            <a:pPr>
              <a:spcAft>
                <a:spcPts val="1000"/>
              </a:spcAft>
              <a:defRPr sz="1800" b="0">
                <a:solidFill>
                  <a:srgbClr val="1C1C1C"/>
                </a:solidFill>
                <a:latin typeface="Calibri"/>
              </a:defRPr>
            </a:pPr>
            <a:r>
              <a:t>Do not say: Do not say “free community tools” or “suite.” Do not imply the quiz stores a score in an account. It does not require signup.</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6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What you’ll find — free kit versus complete book</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Explain the two products with exact contents, price, and the rule that the kit stays free.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6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People who will pay $17 if they trust the contents, and people who should take the free kit and not be upsold in the first breath.</a:t>
            </a:r>
          </a:p>
          <a:p>
            <a:pPr>
              <a:spcAft>
                <a:spcPts val="1000"/>
              </a:spcAft>
              <a:defRPr sz="2000" b="0">
                <a:solidFill>
                  <a:srgbClr val="1C1C1C"/>
                </a:solidFill>
                <a:latin typeface="Calibri"/>
              </a:defRPr>
            </a:pPr>
            <a:r>
              <a:t>Platform: Carousel comparison, or a 50s talking-head with the comparison table on screen.</a:t>
            </a:r>
          </a:p>
          <a:p>
            <a:pPr>
              <a:spcAft>
                <a:spcPts val="1000"/>
              </a:spcAft>
              <a:defRPr sz="2000" b="0">
                <a:solidFill>
                  <a:srgbClr val="1C1C1C"/>
                </a:solidFill>
                <a:latin typeface="Calibri"/>
              </a:defRPr>
            </a:pPr>
            <a:r>
              <a:t>Show: Use the site’s own comparison: kit vs complete book. Show covers. Show the line “The PDF is free. The book is optional.”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6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If you want the starter: free kit. Chapter previews, copy-and-paste prompts, a pocket glossary.</a:t>
            </a:r>
          </a:p>
          <a:p>
            <a:pPr>
              <a:spcAft>
                <a:spcPts val="1000"/>
              </a:spcAft>
              <a:defRPr sz="2200" b="0">
                <a:solidFill>
                  <a:srgbClr val="1C1C1C"/>
                </a:solidFill>
                <a:latin typeface="Calibri"/>
              </a:defRPr>
            </a:pPr>
            <a:r>
              <a:t>If you want the how: I Call BS: AI Vibe Coding Myths Dispelled. Thirteen chapters. Digital PDF. $17.</a:t>
            </a:r>
          </a:p>
          <a:p>
            <a:pPr>
              <a:spcAft>
                <a:spcPts val="1000"/>
              </a:spcAft>
              <a:defRPr sz="2200" b="0">
                <a:solidFill>
                  <a:srgbClr val="1C1C1C"/>
                </a:solidFill>
                <a:latin typeface="Calibri"/>
              </a:defRPr>
            </a:pPr>
            <a:r>
              <a:t>Same project. Different depth. Compare them on the site before you buy.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6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The comparison is right but under-specified. The kit is not three full chapters; it is previews from three. The book is a digital PDF, not a print run. Buyers bounce when they feel bait-and-switched. This post should over-specify on purpose.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6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There are only two things for sale energy on this site, and one of them is not for sale.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6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On VettaJimale.Tech, the catalog is small on purpose. The book and the free kit. Nothing else is for sale. More later, when it is real.</a:t>
            </a:r>
          </a:p>
          <a:p>
            <a:pPr>
              <a:spcAft>
                <a:spcPts val="1000"/>
              </a:spcAft>
              <a:defRPr sz="2000" b="0">
                <a:solidFill>
                  <a:srgbClr val="1C1C1C"/>
                </a:solidFill>
                <a:latin typeface="Calibri"/>
              </a:defRPr>
            </a:pPr>
            <a:r>
              <a:t>The free starter kit is a useful kit, not a teaser dressed up as a gift. Inside: previews from three chapters — not three complete chapters. Six copy-and-paste prompts. Three checklist resources. A pocket glossary in plain language. Three lessons from actual builds. Clickable contents so you can jump.</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6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You sign up, the next page has the download, and the email has the same link. You do not need to buy the book. If the file does not open, use the thank-you page button or write through Contact.</a:t>
            </a:r>
          </a:p>
          <a:p>
            <a:pPr>
              <a:spcAft>
                <a:spcPts val="1000"/>
              </a:spcAft>
              <a:defRPr sz="2000" b="0">
                <a:solidFill>
                  <a:srgbClr val="1C1C1C"/>
                </a:solidFill>
                <a:latin typeface="Calibri"/>
              </a:defRPr>
            </a:pPr>
            <a:r>
              <a:t>The complete book is I Call BS: AI Vibe Coding Myths Dispelled. A practical guide for building real apps with Claude Code and Cursor. Thirteen complete chapters, fifteen prompts, ten selected lessons, expanded reference. Digital PDF. Seventeen dollars. One author. One stack.</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6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(3)</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Same project. Different depth. The site puts them next to each other so you can compare before you pay. Start free if you are still sniffing it out. Buy the book when you want the how, not because a timer is running.</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6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“Only two offers. One is free.”</a:t>
            </a:r>
          </a:p>
          <a:p>
            <a:pPr>
              <a:spcAft>
                <a:spcPts val="1000"/>
              </a:spcAft>
              <a:defRPr sz="2000" b="0">
                <a:solidFill>
                  <a:srgbClr val="1C1C1C"/>
                </a:solidFill>
                <a:latin typeface="Calibri"/>
              </a:defRPr>
            </a:pPr>
            <a:r>
              <a:t>Kit: 3 chapter previews · 6 prompts · checklists · glossary · $0</a:t>
            </a:r>
          </a:p>
          <a:p>
            <a:pPr>
              <a:spcAft>
                <a:spcPts val="1000"/>
              </a:spcAft>
              <a:defRPr sz="2000" b="0">
                <a:solidFill>
                  <a:srgbClr val="1C1C1C"/>
                </a:solidFill>
                <a:latin typeface="Calibri"/>
              </a:defRPr>
            </a:pPr>
            <a:r>
              <a:t>Book: 13 chapters · 15 prompts · 10 lessons · $17 PDF</a:t>
            </a:r>
          </a:p>
          <a:p>
            <a:pPr>
              <a:spcAft>
                <a:spcPts val="1000"/>
              </a:spcAft>
              <a:defRPr sz="2000" b="0">
                <a:solidFill>
                  <a:srgbClr val="1C1C1C"/>
                </a:solidFill>
                <a:latin typeface="Calibri"/>
              </a:defRPr>
            </a:pPr>
            <a:r>
              <a:t>“The kit stays free either way.”</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6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VettaJimale.Tech sells one thing: I Call BS, $17 digital PDF, 13 chapters. The free starter kit is separate and stays free — previews from 3 chapters (not 3 full chapters), 6 prompts, checklists, pocket glossary, 3 lessons. Compare them on the site. Do not buy to “unlock” the kit. It is already yours if you want it.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6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Free kit: /free-kit   Book: /products/i-call-bs   The comparison table is on both pages.</a:t>
            </a:r>
          </a:p>
          <a:p>
            <a:pPr>
              <a:spcAft>
                <a:spcPts val="1000"/>
              </a:spcAft>
              <a:defRPr sz="1800" b="0">
                <a:solidFill>
                  <a:srgbClr val="1C1C1C"/>
                </a:solidFill>
                <a:latin typeface="Calibri"/>
              </a:defRPr>
            </a:pPr>
            <a:r>
              <a:t>Call to action: If you have not touched the work yet, take the kit. If you already know you want the full method, buy the book. Do not do both in a panic.</a:t>
            </a:r>
          </a:p>
          <a:p>
            <a:pPr>
              <a:spcAft>
                <a:spcPts val="1000"/>
              </a:spcAft>
              <a:defRPr sz="1800" b="0">
                <a:solidFill>
                  <a:srgbClr val="1C1C1C"/>
                </a:solidFill>
                <a:latin typeface="Calibri"/>
              </a:defRPr>
            </a:pPr>
            <a:r>
              <a:t>Do not say: Do not say “three free chapters.” Do not say paperback unless it exists. Do not invent a discount window.</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7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What you’ll find — the essay as a door, not a teaser</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Use the published essay to demonstrate tone, then send people to act, not only to read.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7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People who still think the problem with AI is that they are “not technical enough.”</a:t>
            </a:r>
          </a:p>
          <a:p>
            <a:pPr>
              <a:spcAft>
                <a:spcPts val="1000"/>
              </a:spcAft>
              <a:defRPr sz="2000" b="0">
                <a:solidFill>
                  <a:srgbClr val="1C1C1C"/>
                </a:solidFill>
                <a:latin typeface="Calibri"/>
              </a:defRPr>
            </a:pPr>
            <a:r>
              <a:t>Platform: 60–90s talking-head. LinkedIn text post variant included in the caption.</a:t>
            </a:r>
          </a:p>
          <a:p>
            <a:pPr>
              <a:spcAft>
                <a:spcPts val="1000"/>
              </a:spcAft>
              <a:defRPr sz="2000" b="0">
                <a:solidFill>
                  <a:srgbClr val="1C1C1C"/>
                </a:solidFill>
                <a:latin typeface="Calibri"/>
              </a:defRPr>
            </a:pPr>
            <a:r>
              <a:t>Show: Open on the essay title in the library. Close on Templates or the literacy check — reading then doing.</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7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One piece to start with: AI is not smarter than you.</a:t>
            </a:r>
          </a:p>
          <a:p>
            <a:pPr>
              <a:spcAft>
                <a:spcPts val="1000"/>
              </a:spcAft>
              <a:defRPr sz="2200" b="0">
                <a:solidFill>
                  <a:srgbClr val="1C1C1C"/>
                </a:solidFill>
                <a:latin typeface="Calibri"/>
              </a:defRPr>
            </a:pPr>
            <a:r>
              <a:t>The gap is experience, not intelligence.</a:t>
            </a:r>
          </a:p>
          <a:p>
            <a:pPr>
              <a:spcAft>
                <a:spcPts val="1000"/>
              </a:spcAft>
              <a:defRPr sz="2200" b="0">
                <a:solidFill>
                  <a:srgbClr val="1C1C1C"/>
                </a:solidFill>
                <a:latin typeface="Calibri"/>
              </a:defRPr>
            </a:pPr>
            <a:r>
              <a:t>That’s the tone of the whole site. Read it, then use a template on your own project.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7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It cites the thesis and then shrugs. A complete post teaches one idea from the essay, shows how it changes behavior, and names the next artifact (template or check) so reading is not the end of the loop.</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7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The most expensive AI mistake I see is not picking the wrong model. It is treating the model like it is smarter than you.</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7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There is a published essay on VettaJimale.Tech called AI is not smarter than you. The subtitle is the whole argument: the gap is experience, not intelligence.</a:t>
            </a:r>
          </a:p>
          <a:p>
            <a:pPr>
              <a:spcAft>
                <a:spcPts val="1000"/>
              </a:spcAft>
              <a:defRPr sz="2000" b="0">
                <a:solidFill>
                  <a:srgbClr val="1C1C1C"/>
                </a:solidFill>
                <a:latin typeface="Calibri"/>
              </a:defRPr>
            </a:pPr>
            <a:r>
              <a:t>That sentence is how the site thinks. A model can sound certain while being wrong about your file, your user, your payment flow, your actual button. Certainty is not competence. Fluency is not a test passing.</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7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If you believe the machine is smarter than you, you will accept “done” because it was confident. If you believe the gap is experience, you will go look. You will click the path a stranger would click. You will keep a receipt of what you saw.</a:t>
            </a:r>
          </a:p>
          <a:p>
            <a:pPr>
              <a:spcAft>
                <a:spcPts val="1000"/>
              </a:spcAft>
              <a:defRPr sz="2000" b="0">
                <a:solidFill>
                  <a:srgbClr val="1C1C1C"/>
                </a:solidFill>
                <a:latin typeface="Calibri"/>
              </a:defRPr>
            </a:pPr>
            <a:r>
              <a:t>So do not only read the essay and nod. Read it, then open Before You Accept Done — it is a sample tutorial, and it is labeled that way — or fill the template with the same name. Write the claim in a sentence a skeptic could check. Then try it. Then keep what you saw, especially if it failed.</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7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(3)</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That loop is the site. Essay for the stance. Template for the habit. Kit and book when you want more of the how. Start with the essay if you need the language. Start with the template if you already have a mess in production.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7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Title card: “AI is not smarter than you”</a:t>
            </a:r>
          </a:p>
          <a:p>
            <a:pPr>
              <a:spcAft>
                <a:spcPts val="1000"/>
              </a:spcAft>
              <a:defRPr sz="2000" b="0">
                <a:solidFill>
                  <a:srgbClr val="1C1C1C"/>
                </a:solidFill>
                <a:latin typeface="Calibri"/>
              </a:defRPr>
            </a:pPr>
            <a:r>
              <a:t>“The gap is experience, not intelligence.”</a:t>
            </a:r>
          </a:p>
          <a:p>
            <a:pPr>
              <a:spcAft>
                <a:spcPts val="1000"/>
              </a:spcAft>
              <a:defRPr sz="2000" b="0">
                <a:solidFill>
                  <a:srgbClr val="1C1C1C"/>
                </a:solidFill>
                <a:latin typeface="Calibri"/>
              </a:defRPr>
            </a:pPr>
            <a:r>
              <a:t>Then: Name the claim → Click it yourself → Keep the receipt</a:t>
            </a:r>
          </a:p>
          <a:p>
            <a:pPr>
              <a:spcAft>
                <a:spcPts val="1000"/>
              </a:spcAft>
              <a:defRPr sz="2000" b="0">
                <a:solidFill>
                  <a:srgbClr val="1C1C1C"/>
                </a:solidFill>
                <a:latin typeface="Calibri"/>
              </a:defRPr>
            </a:pPr>
            <a:r>
              <a:t>End: essay URL + “then open the template”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7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Start here: AI is not smarter than you, on VettaJimale.Tech. The gap is experience, not intelligence. Read it for the stance. Then do not stop at reading — open the Before You Accept Done tutorial (it is labeled sample) or the fillable template. Write the claim. Click the path. Keep the receipt. That is the whole method of the site, in one sitting.</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7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Essay: /blog/ai-is-not-smarter-than-you-iecg  Tutorial: /resources/before-you-accept-done  Template: /resources/templates</a:t>
            </a:r>
          </a:p>
          <a:p>
            <a:pPr>
              <a:spcAft>
                <a:spcPts val="1000"/>
              </a:spcAft>
              <a:defRPr sz="1800" b="0">
                <a:solidFill>
                  <a:srgbClr val="1C1C1C"/>
                </a:solidFill>
                <a:latin typeface="Calibri"/>
              </a:defRPr>
            </a:pPr>
            <a:r>
              <a:t>Call to action: Read the essay once. Fill one Before You Accept Done form on a live task before the day ends.</a:t>
            </a:r>
          </a:p>
          <a:p>
            <a:pPr>
              <a:spcAft>
                <a:spcPts val="1000"/>
              </a:spcAft>
              <a:defRPr sz="1800" b="0">
                <a:solidFill>
                  <a:srgbClr val="1C1C1C"/>
                </a:solidFill>
                <a:latin typeface="Calibri"/>
              </a:defRPr>
            </a:pPr>
            <a:r>
              <a:t>Do not say: Do not summarize the essay as “AI is dumb.” That is not the claim. The claim is about experience and verification.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8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What you’ll find — receipts, including dead ends</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Define “building in public” as evidence, and set expectations so people do not come for a highlight reel.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8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Builders who have been burned by gurus who never show the broken localhost.</a:t>
            </a:r>
          </a:p>
          <a:p>
            <a:pPr>
              <a:spcAft>
                <a:spcPts val="1000"/>
              </a:spcAft>
              <a:defRPr sz="2000" b="0">
                <a:solidFill>
                  <a:srgbClr val="1C1C1C"/>
                </a:solidFill>
                <a:latin typeface="Calibri"/>
              </a:defRPr>
            </a:pPr>
            <a:r>
              <a:t>Platform: 40–60s talking-head. Optional B-roll of the actual studio, the comparison table, a failed overlay — only real artifacts.</a:t>
            </a:r>
          </a:p>
          <a:p>
            <a:pPr>
              <a:spcAft>
                <a:spcPts val="1000"/>
              </a:spcAft>
              <a:defRPr sz="2000" b="0">
                <a:solidFill>
                  <a:srgbClr val="1C1C1C"/>
                </a:solidFill>
                <a:latin typeface="Calibri"/>
              </a:defRPr>
            </a:pPr>
            <a:r>
              <a:t>Show: Show the Building in Public page as it is, including the sample label. Show Templates and Tools as the durable receipts if the log is still short.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8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I don’t post “10 tools that will change your life.”</a:t>
            </a:r>
          </a:p>
          <a:p>
            <a:pPr>
              <a:spcAft>
                <a:spcPts val="1000"/>
              </a:spcAft>
              <a:defRPr sz="2200" b="0">
                <a:solidFill>
                  <a:srgbClr val="1C1C1C"/>
                </a:solidFill>
                <a:latin typeface="Calibri"/>
              </a:defRPr>
            </a:pPr>
            <a:r>
              <a:t>I post what I tried, what failed, and what I would repeat.</a:t>
            </a:r>
          </a:p>
          <a:p>
            <a:pPr>
              <a:spcAft>
                <a:spcPts val="1000"/>
              </a:spcAft>
              <a:defRPr sz="2200" b="0">
                <a:solidFill>
                  <a:srgbClr val="1C1C1C"/>
                </a:solidFill>
                <a:latin typeface="Calibri"/>
              </a:defRPr>
            </a:pPr>
            <a:r>
              <a:t>If you want receipts from real builds, that’s the Building in Public lane.</a:t>
            </a:r>
          </a:p>
          <a:p>
            <a:pPr>
              <a:spcAft>
                <a:spcPts val="1000"/>
              </a:spcAft>
              <a:defRPr sz="2200" b="0">
                <a:solidFill>
                  <a:srgbClr val="1C1C1C"/>
                </a:solidFill>
                <a:latin typeface="Calibri"/>
              </a:defRPr>
            </a:pPr>
            <a:r>
              <a:t>VettaJimale.Tech / resources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8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Anti-listicle energy is cheap on social. Completeness means defining a receipt, giving an example from the actual site (this site, this kit, this stack), and telling people what is not there yet so “building in public” is not a slogan covering an empty log.</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8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A receipt is not a vibe. A receipt is something you could hand a skeptic.</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8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I do not post “ten tools that will change your life.” That format is how you avoid saying what you actually shipped.</a:t>
            </a:r>
          </a:p>
          <a:p>
            <a:pPr>
              <a:spcAft>
                <a:spcPts val="1000"/>
              </a:spcAft>
              <a:defRPr sz="2000" b="0">
                <a:solidFill>
                  <a:srgbClr val="1C1C1C"/>
                </a:solidFill>
                <a:latin typeface="Calibri"/>
              </a:defRPr>
            </a:pPr>
            <a:r>
              <a:t>On VettaJimale.Tech, Building in Public means receipts from real projects: wins, dead ends, and what changed. A receipt looks like this. I used Claude Code and Cursor to build a working site — this one — with a free kit, a paid book, templates you can fill, a tools shelf with limitations written down, and a literacy check. Some of that is polished. Some of it is labeled sample. Some shelves are empty on purpose.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8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The free kit itself is a receipt. I built, tested, made mistakes, and then wrote a practical place to start. The comparison table is a receipt: it will not pretend the kit contains thirteen chapters.</a:t>
            </a:r>
          </a:p>
          <a:p>
            <a:pPr>
              <a:spcAft>
                <a:spcPts val="1000"/>
              </a:spcAft>
              <a:defRPr sz="2000" b="0">
                <a:solidFill>
                  <a:srgbClr val="1C1C1C"/>
                </a:solidFill>
                <a:latin typeface="Calibri"/>
              </a:defRPr>
            </a:pPr>
            <a:r>
              <a:t>What is not here: a fake six-month streak of daily build vlogs, and a Creative Tools archive I have not published. If you follow for a highlight reel, you will be bored. If you follow to watch someone keep the notes so the next attempt starts clearer, you are in the right place.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8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(3)</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Open the Work lane. Read Before You Accept Done. Steal the habit even if you never buy the book.</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8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 receipt is something a skeptic could check.”</a:t>
            </a:r>
          </a:p>
          <a:p>
            <a:pPr>
              <a:spcAft>
                <a:spcPts val="1000"/>
              </a:spcAft>
              <a:defRPr sz="2000" b="0">
                <a:solidFill>
                  <a:srgbClr val="1C1C1C"/>
                </a:solidFill>
                <a:latin typeface="Calibri"/>
              </a:defRPr>
            </a:pPr>
            <a:r>
              <a:t>This site · the kit · the book · the templates · the check</a:t>
            </a:r>
          </a:p>
          <a:p>
            <a:pPr>
              <a:spcAft>
                <a:spcPts val="1000"/>
              </a:spcAft>
              <a:defRPr sz="2000" b="0">
                <a:solidFill>
                  <a:srgbClr val="1C1C1C"/>
                </a:solidFill>
                <a:latin typeface="Calibri"/>
              </a:defRPr>
            </a:pPr>
            <a:r>
              <a:t>“Samples labeled. Empty shelves admitted.”</a:t>
            </a:r>
          </a:p>
          <a:p>
            <a:pPr>
              <a:spcAft>
                <a:spcPts val="1000"/>
              </a:spcAft>
              <a:defRPr sz="2000" b="0">
                <a:solidFill>
                  <a:srgbClr val="1C1C1C"/>
                </a:solidFill>
                <a:latin typeface="Calibri"/>
              </a:defRPr>
            </a:pPr>
            <a:r>
              <a:t>Building in Public → Resources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8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Building in public on VettaJimale.Tech is not a content pillar. It is a standard: wins, dead ends, and what changed, from real projects. The site you are looking at is one of the receipts. So is the free kit, the $17 book, the fillable templates, and the literacy check. Samples are labeled. Empty shelves are admitted. If you want a highlight reel, this will feel slow. If you want notes you can reuse, start in the Work lane.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8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Work lane: /resources/building-in-public</a:t>
            </a:r>
          </a:p>
          <a:p>
            <a:pPr>
              <a:spcAft>
                <a:spcPts val="1000"/>
              </a:spcAft>
              <a:defRPr sz="1800" b="0">
                <a:solidFill>
                  <a:srgbClr val="1C1C1C"/>
                </a:solidFill>
                <a:latin typeface="Calibri"/>
              </a:defRPr>
            </a:pPr>
            <a:r>
              <a:t>Call to action: Open Building in Public. Read one labeled sample. Write down what you would keep for your own log.</a:t>
            </a:r>
          </a:p>
          <a:p>
            <a:pPr>
              <a:spcAft>
                <a:spcPts val="1000"/>
              </a:spcAft>
              <a:defRPr sz="1800" b="0">
                <a:solidFill>
                  <a:srgbClr val="1C1C1C"/>
                </a:solidFill>
                <a:latin typeface="Calibri"/>
              </a:defRPr>
            </a:pPr>
            <a:r>
              <a:t>Do not say: Do not invent a failure story that did not happen. Do not show other people’s dashboards. Do not promise a daily vlog.</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9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How to use it — first visit, start to finish</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A complete onboarding script: arrival, choice, action, stop rule.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9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Someone who clicked from social and will bounce if the homepage feels like a magazine.</a:t>
            </a:r>
          </a:p>
          <a:p>
            <a:pPr>
              <a:spcAft>
                <a:spcPts val="1000"/>
              </a:spcAft>
              <a:defRPr sz="2000" b="0">
                <a:solidFill>
                  <a:srgbClr val="1C1C1C"/>
                </a:solidFill>
                <a:latin typeface="Calibri"/>
              </a:defRPr>
            </a:pPr>
            <a:r>
              <a:t>Platform: Screen-record tutorial, 60–90s, voiceover. Save as “Start here.”</a:t>
            </a:r>
          </a:p>
          <a:p>
            <a:pPr>
              <a:spcAft>
                <a:spcPts val="1000"/>
              </a:spcAft>
              <a:defRPr sz="2000" b="0">
                <a:solidFill>
                  <a:srgbClr val="1C1C1C"/>
                </a:solidFill>
                <a:latin typeface="Calibri"/>
              </a:defRPr>
            </a:pPr>
            <a:r>
              <a:t>Show: Real walkthrough: homepage → Explore Resources → one tool → back to their project. No stock cursor demos.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9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Go to VettaJimale.Tech.</a:t>
            </a:r>
          </a:p>
          <a:p>
            <a:pPr>
              <a:spcAft>
                <a:spcPts val="1000"/>
              </a:spcAft>
              <a:defRPr sz="2200" b="0">
                <a:solidFill>
                  <a:srgbClr val="1C1C1C"/>
                </a:solidFill>
                <a:latin typeface="Calibri"/>
              </a:defRPr>
            </a:pPr>
            <a:r>
              <a:t>Skip the noise. Hit Explore Resources.</a:t>
            </a:r>
          </a:p>
          <a:p>
            <a:pPr>
              <a:spcAft>
                <a:spcPts val="1000"/>
              </a:spcAft>
              <a:defRPr sz="2200" b="0">
                <a:solidFill>
                  <a:srgbClr val="1C1C1C"/>
                </a:solidFill>
                <a:latin typeface="Calibri"/>
              </a:defRPr>
            </a:pPr>
            <a:r>
              <a:t>Pick one: literacy check, templates, or tools by job.</a:t>
            </a:r>
          </a:p>
          <a:p>
            <a:pPr>
              <a:spcAft>
                <a:spcPts val="1000"/>
              </a:spcAft>
              <a:defRPr sz="2200" b="0">
                <a:solidFill>
                  <a:srgbClr val="1C1C1C"/>
                </a:solidFill>
                <a:latin typeface="Calibri"/>
              </a:defRPr>
            </a:pPr>
            <a:r>
              <a:t>Do the thing on your project, not as a spectator.</a:t>
            </a:r>
          </a:p>
          <a:p>
            <a:pPr>
              <a:spcAft>
                <a:spcPts val="1000"/>
              </a:spcAft>
              <a:defRPr sz="2200" b="0">
                <a:solidFill>
                  <a:srgbClr val="1C1C1C"/>
                </a:solidFill>
                <a:latin typeface="Calibri"/>
              </a:defRPr>
            </a:pPr>
            <a:r>
              <a:t>Come back when you have a new claim to test.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9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The steps are correct and still too skeletal. A first visit needs time estimates, a stop rule (do not binge), what to ignore (newsletter if it is closed, empty shelves), and what “done with the first visit” means.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9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Your first visit to VettaJimale.Tech should take twenty minutes, not an afternoon. Here is the exact path.</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9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Step one. Go to VettaJimale.Tech. You will see the headline, a short statement from me, and doors into Resources, the book, and the free kit. Do not sign up for anything yet unless you already know you want the PDF kit.</a:t>
            </a:r>
          </a:p>
          <a:p>
            <a:pPr>
              <a:spcAft>
                <a:spcPts val="1000"/>
              </a:spcAft>
              <a:defRPr sz="2000" b="0">
                <a:solidFill>
                  <a:srgbClr val="1C1C1C"/>
                </a:solidFill>
                <a:latin typeface="Calibri"/>
              </a:defRPr>
            </a:pPr>
            <a:r>
              <a:t>Step two. Tap Explore Resources. That is the library. You will see essays, the literacy check, templates, tools, and a sample tutorial. Samples are marked. If a shelf looks thin, it is thin.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9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Step three. Pick only one. If you are unsure of your habits, take the literacy check — about twenty questions, instant feedback, no account. If you are about to prompt, open Templates and fill one form. If you are about to add a vendor, open Tools and Updates and read the row for that job, including the limits.</a:t>
            </a:r>
          </a:p>
          <a:p>
            <a:pPr>
              <a:spcAft>
                <a:spcPts val="1000"/>
              </a:spcAft>
              <a:defRPr sz="2000" b="0">
                <a:solidFill>
                  <a:srgbClr val="1C1C1C"/>
                </a:solidFill>
                <a:latin typeface="Calibri"/>
              </a:defRPr>
            </a:pPr>
            <a:r>
              <a:t>Step four. Leave the site. This is the part people skip. Take whatever you just made — a score in your head, a downloaded Markdown file, a limitation you highlighted — and apply it to the project that was already open on your machine. If you stay and browse, you will feel productive and change nothing.</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9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(3)</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Step five. Come back when you have a new claim to test, not when you are bored. The site is a workbench. Workbenches are not feeds.</a:t>
            </a:r>
          </a:p>
          <a:p>
            <a:pPr>
              <a:spcAft>
                <a:spcPts val="1000"/>
              </a:spcAft>
              <a:defRPr sz="2000" b="0">
                <a:solidFill>
                  <a:srgbClr val="1C1C1C"/>
                </a:solidFill>
                <a:latin typeface="Calibri"/>
              </a:defRPr>
            </a:pPr>
            <a:r>
              <a:t>Ignore, for now: any newsletter module that says the list is not open yet. Ignore empty topic shelves. Ignore the urge to buy the book on the first visit unless you already know you want thirteen chapters. The kit will still be free tomorrow.</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9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1 Open VettaJimale.Tech</a:t>
            </a:r>
          </a:p>
          <a:p>
            <a:pPr>
              <a:spcAft>
                <a:spcPts val="1000"/>
              </a:spcAft>
              <a:defRPr sz="2000" b="0">
                <a:solidFill>
                  <a:srgbClr val="1C1C1C"/>
                </a:solidFill>
                <a:latin typeface="Calibri"/>
              </a:defRPr>
            </a:pPr>
            <a:r>
              <a:t>2 Explore Resources</a:t>
            </a:r>
          </a:p>
          <a:p>
            <a:pPr>
              <a:spcAft>
                <a:spcPts val="1000"/>
              </a:spcAft>
              <a:defRPr sz="2000" b="0">
                <a:solidFill>
                  <a:srgbClr val="1C1C1C"/>
                </a:solidFill>
                <a:latin typeface="Calibri"/>
              </a:defRPr>
            </a:pPr>
            <a:r>
              <a:t>3 Pick ONE (check / template / tools)</a:t>
            </a:r>
          </a:p>
          <a:p>
            <a:pPr>
              <a:spcAft>
                <a:spcPts val="1000"/>
              </a:spcAft>
              <a:defRPr sz="2000" b="0">
                <a:solidFill>
                  <a:srgbClr val="1C1C1C"/>
                </a:solidFill>
                <a:latin typeface="Calibri"/>
              </a:defRPr>
            </a:pPr>
            <a:r>
              <a:t>4 Leave. Apply it to a live project.</a:t>
            </a:r>
          </a:p>
          <a:p>
            <a:pPr>
              <a:spcAft>
                <a:spcPts val="1000"/>
              </a:spcAft>
              <a:defRPr sz="2000" b="0">
                <a:solidFill>
                  <a:srgbClr val="1C1C1C"/>
                </a:solidFill>
                <a:latin typeface="Calibri"/>
              </a:defRPr>
            </a:pPr>
            <a:r>
              <a:t>5 Return when you have a new claim</a:t>
            </a:r>
          </a:p>
          <a:p>
            <a:pPr>
              <a:spcAft>
                <a:spcPts val="1000"/>
              </a:spcAft>
              <a:defRPr sz="2000" b="0">
                <a:solidFill>
                  <a:srgbClr val="1C1C1C"/>
                </a:solidFill>
                <a:latin typeface="Calibri"/>
              </a:defRPr>
            </a:pPr>
            <a:r>
              <a:t>Timer: 20 minutes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9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visit protocol for VettaJimale.Tech. Twenty minutes. Homepage, then Explore Resources, then one tool only — literacy check, a template, or tools by job. Then leave the site and use it on work you already have. Do not binge. Do not wait for a newsletter that is not open yet. Do not buy on panic. Come back when you have a new claim to test.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9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If you only do one thing: literacy check, no signup, twenty questions.</a:t>
            </a:r>
          </a:p>
          <a:p>
            <a:pPr>
              <a:spcAft>
                <a:spcPts val="1000"/>
              </a:spcAft>
              <a:defRPr sz="1800" b="0">
                <a:solidFill>
                  <a:srgbClr val="1C1C1C"/>
                </a:solidFill>
                <a:latin typeface="Calibri"/>
              </a:defRPr>
            </a:pPr>
            <a:r>
              <a:t>Call to action: Start the timer. Finish one tool. Close the tab.</a:t>
            </a:r>
          </a:p>
          <a:p>
            <a:pPr>
              <a:spcAft>
                <a:spcPts val="1000"/>
              </a:spcAft>
              <a:defRPr sz="1800" b="0">
                <a:solidFill>
                  <a:srgbClr val="1C1C1C"/>
                </a:solidFill>
                <a:latin typeface="Calibri"/>
              </a:defRPr>
            </a:pPr>
            <a:r>
              <a:t>Do not say: Do not record a five-minute homepage tour that never clicks a tool. The point is departure.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10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How to use it — the Vibe Coding Literacy Check</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Full instructions for the quiz: who it is for, what it covers, how to interpret a result, what to do next.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10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Anyone shipping with Claude, Cursor, Copilot, or a chat window who has felt that fake-done feeling.</a:t>
            </a:r>
          </a:p>
          <a:p>
            <a:pPr>
              <a:spcAft>
                <a:spcPts val="1000"/>
              </a:spcAft>
              <a:defRPr sz="2000" b="0">
                <a:solidFill>
                  <a:srgbClr val="1C1C1C"/>
                </a:solidFill>
                <a:latin typeface="Calibri"/>
              </a:defRPr>
            </a:pPr>
            <a:r>
              <a:t>Platform: Screen recording, 40–55s, plus a static “no signup” card.</a:t>
            </a:r>
          </a:p>
          <a:p>
            <a:pPr>
              <a:spcAft>
                <a:spcPts val="1000"/>
              </a:spcAft>
              <a:defRPr sz="2000" b="0">
                <a:solidFill>
                  <a:srgbClr val="1C1C1C"/>
                </a:solidFill>
                <a:latin typeface="Calibri"/>
              </a:defRPr>
            </a:pPr>
            <a:r>
              <a:t>Show: Show the first question, an explanation after an answer, the end state. Do not leak every question — preserve the check.</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10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Before you trust the next “it’s done” from an AI, take the vibe coding literacy check.</a:t>
            </a:r>
          </a:p>
          <a:p>
            <a:pPr>
              <a:spcAft>
                <a:spcPts val="1000"/>
              </a:spcAft>
              <a:defRPr sz="2200" b="0">
                <a:solidFill>
                  <a:srgbClr val="1C1C1C"/>
                </a:solidFill>
                <a:latin typeface="Calibri"/>
              </a:defRPr>
            </a:pPr>
            <a:r>
              <a:t>Twenty questions. Instant feedback. No signup.</a:t>
            </a:r>
          </a:p>
          <a:p>
            <a:pPr>
              <a:spcAft>
                <a:spcPts val="1000"/>
              </a:spcAft>
              <a:defRPr sz="2200" b="0">
                <a:solidFill>
                  <a:srgbClr val="1C1C1C"/>
                </a:solidFill>
                <a:latin typeface="Calibri"/>
              </a:defRPr>
            </a:pPr>
            <a:r>
              <a:t>It’s on the Resources page. Takes a few minutes. Tells you where your habits are soft.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10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It sells the quiz and skips the pedagogy. People need to know it is about reading, safety, and verification; that a high score is not a certificate; and that a miss should send them to a specific template or kit page, not to shame.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10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If a model tells you it is done, that is a claim. It is not a test passing. This check exists for that moment.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10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The Vibe Coding Literacy Check on VettaJimale.Tech is twenty questions on reading, safety, and verification. Instant feedback after each item, so you learn while you answer. No signup. No waitlist.</a:t>
            </a:r>
          </a:p>
          <a:p>
            <a:pPr>
              <a:spcAft>
                <a:spcPts val="1000"/>
              </a:spcAft>
              <a:defRPr sz="2000" b="0">
                <a:solidFill>
                  <a:srgbClr val="1C1C1C"/>
                </a:solidFill>
                <a:latin typeface="Calibri"/>
              </a:defRPr>
            </a:pPr>
            <a:r>
              <a:t>It is not a personality quiz and it is not a credential. It will not certify you as a senior engineer. It will show you whether you have the habit of checking claims — secrets that should never be in a browser, “done” that was never clicked, answers that sound right because they are fluent.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10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How to take it: open Resources, tap Vibe Coding Literacy Check, sit down as if you were about to merge. Answer from how you actually work, not how you wish you worked. Read the explanation even when you are right. Especially when you are right. Confidence is how bad habits hide.</a:t>
            </a:r>
          </a:p>
          <a:p>
            <a:pPr>
              <a:spcAft>
                <a:spcPts val="1000"/>
              </a:spcAft>
              <a:defRPr sz="2000" b="0">
                <a:solidFill>
                  <a:srgbClr val="1C1C1C"/>
                </a:solidFill>
                <a:latin typeface="Calibri"/>
              </a:defRPr>
            </a:pPr>
            <a:r>
              <a:t>When you finish, do not screenshot a number for clout. Write down the two items that stung. Then go to the matching tool. If you keep accepting done, fill Before You Accept Done. If you are sloppy with secrets and vendors, read Tools and Updates and the Builder Quick Reference. If you want a longer on-ramp, get the free kit and use the smoke test.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10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(3)</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That is how the check is meant to be used: diagnosis, then one repair, then back to the project.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10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“20 questions. Instant feedback. No signup.”</a:t>
            </a:r>
          </a:p>
          <a:p>
            <a:pPr>
              <a:spcAft>
                <a:spcPts val="1000"/>
              </a:spcAft>
              <a:defRPr sz="2000" b="0">
                <a:solidFill>
                  <a:srgbClr val="1C1C1C"/>
                </a:solidFill>
                <a:latin typeface="Calibri"/>
              </a:defRPr>
            </a:pPr>
            <a:r>
              <a:t>Topics: reading · safety · verification</a:t>
            </a:r>
          </a:p>
          <a:p>
            <a:pPr>
              <a:spcAft>
                <a:spcPts val="1000"/>
              </a:spcAft>
              <a:defRPr sz="2000" b="0">
                <a:solidFill>
                  <a:srgbClr val="1C1C1C"/>
                </a:solidFill>
                <a:latin typeface="Calibri"/>
              </a:defRPr>
            </a:pPr>
            <a:r>
              <a:t>“A score is not a certificate.”</a:t>
            </a:r>
          </a:p>
          <a:p>
            <a:pPr>
              <a:spcAft>
                <a:spcPts val="1000"/>
              </a:spcAft>
              <a:defRPr sz="2000" b="0">
                <a:solidFill>
                  <a:srgbClr val="1C1C1C"/>
                </a:solidFill>
                <a:latin typeface="Calibri"/>
              </a:defRPr>
            </a:pPr>
            <a:r>
              <a:t>After: 2 stinging items → one template or the kit</a:t>
            </a:r>
          </a:p>
          <a:p>
            <a:pPr>
              <a:spcAft>
                <a:spcPts val="1000"/>
              </a:spcAft>
              <a:defRPr sz="2000" b="0">
                <a:solidFill>
                  <a:srgbClr val="1C1C1C"/>
                </a:solidFill>
                <a:latin typeface="Calibri"/>
              </a:defRPr>
            </a:pPr>
            <a:r>
              <a:t>/resources/vibe-coding-literacy-check</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10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Take the Vibe Coding Literacy Check on VettaJimale.Tech before you trust the next “it’s done.” Twenty questions, instant feedback, no signup. It is about reading, safety, and verification — not a badge. When you finish, keep the two misses that stung and repair them with a template, the Builder Quick Reference, or the free kit’s smoke test. Diagnosis, then one repair.</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10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Direct link: /resources/vibe-coding-literacy-check — then Templates if “done” is your weak spot.</a:t>
            </a:r>
          </a:p>
          <a:p>
            <a:pPr>
              <a:spcAft>
                <a:spcPts val="1000"/>
              </a:spcAft>
              <a:defRPr sz="1800" b="0">
                <a:solidFill>
                  <a:srgbClr val="1C1C1C"/>
                </a:solidFill>
                <a:latin typeface="Calibri"/>
              </a:defRPr>
            </a:pPr>
            <a:r>
              <a:t>Call to action: Take the check once, honestly. Repair one miss the same day.</a:t>
            </a:r>
          </a:p>
          <a:p>
            <a:pPr>
              <a:spcAft>
                <a:spcPts val="1000"/>
              </a:spcAft>
              <a:defRPr sz="1800" b="0">
                <a:solidFill>
                  <a:srgbClr val="1C1C1C"/>
                </a:solidFill>
                <a:latin typeface="Calibri"/>
              </a:defRPr>
            </a:pPr>
            <a:r>
              <a:t>Do not say: Do not turn this into a stitch-the-score trend. That fights the point. Do not claim it makes you “literate certified.”</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11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How to use it — the three templates, in order</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A complete workflow: which form, in which order, what to write, what to export, what to do after.</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11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People who open Cursor or Claude Code and start typing because the blank page won.</a:t>
            </a:r>
          </a:p>
          <a:p>
            <a:pPr>
              <a:spcAft>
                <a:spcPts val="1000"/>
              </a:spcAft>
              <a:defRPr sz="2000" b="0">
                <a:solidFill>
                  <a:srgbClr val="1C1C1C"/>
                </a:solidFill>
                <a:latin typeface="Calibri"/>
              </a:defRPr>
            </a:pPr>
            <a:r>
              <a:t>Platform: Tutorial Reel, 70–90s, screen recording. This is a saveable post.</a:t>
            </a:r>
          </a:p>
          <a:p>
            <a:pPr>
              <a:spcAft>
                <a:spcPts val="1000"/>
              </a:spcAft>
              <a:defRPr sz="2000" b="0">
                <a:solidFill>
                  <a:srgbClr val="1C1C1C"/>
                </a:solidFill>
                <a:latin typeface="Calibri"/>
              </a:defRPr>
            </a:pPr>
            <a:r>
              <a:t>Show: Fill a few real fields live — not lorem ipsum. Show download of Markdown and PDF. Show the file dropped next to a project.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11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Don’t start a build in the chat window.</a:t>
            </a:r>
          </a:p>
          <a:p>
            <a:pPr>
              <a:spcAft>
                <a:spcPts val="1000"/>
              </a:spcAft>
              <a:defRPr sz="2200" b="0">
                <a:solidFill>
                  <a:srgbClr val="1C1C1C"/>
                </a:solidFill>
                <a:latin typeface="Calibri"/>
              </a:defRPr>
            </a:pPr>
            <a:r>
              <a:t>Open Templates.</a:t>
            </a:r>
          </a:p>
          <a:p>
            <a:pPr>
              <a:spcAft>
                <a:spcPts val="1000"/>
              </a:spcAft>
              <a:defRPr sz="2200" b="0">
                <a:solidFill>
                  <a:srgbClr val="1C1C1C"/>
                </a:solidFill>
                <a:latin typeface="Calibri"/>
              </a:defRPr>
            </a:pPr>
            <a:r>
              <a:t>Fill ROADMAP so you know the destination.</a:t>
            </a:r>
          </a:p>
          <a:p>
            <a:pPr>
              <a:spcAft>
                <a:spcPts val="1000"/>
              </a:spcAft>
              <a:defRPr sz="2200" b="0">
                <a:solidFill>
                  <a:srgbClr val="1C1C1C"/>
                </a:solidFill>
                <a:latin typeface="Calibri"/>
              </a:defRPr>
            </a:pPr>
            <a:r>
              <a:t>Fill Project Rules so the tool has a fence.</a:t>
            </a:r>
          </a:p>
          <a:p>
            <a:pPr>
              <a:spcAft>
                <a:spcPts val="1000"/>
              </a:spcAft>
              <a:defRPr sz="2200" b="0">
                <a:solidFill>
                  <a:srgbClr val="1C1C1C"/>
                </a:solidFill>
                <a:latin typeface="Calibri"/>
              </a:defRPr>
            </a:pPr>
            <a:r>
              <a:t>Fill Before You Accept Done so you name the claim, try the path, and keep what you saw.</a:t>
            </a:r>
          </a:p>
          <a:p>
            <a:pPr>
              <a:spcAft>
                <a:spcPts val="1000"/>
              </a:spcAft>
              <a:defRPr sz="2200" b="0">
                <a:solidFill>
                  <a:srgbClr val="1C1C1C"/>
                </a:solidFill>
                <a:latin typeface="Calibri"/>
              </a:defRPr>
            </a:pPr>
            <a:r>
              <a:t>Download it. Then prompt.</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11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Order is good; it still reads like a packing list. Completeness means one sentence of what belongs in each field, when to skip a form, Markdown vs PDF, and how this pairs with the sample tutorial and the kit’s longer smoke test.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If the first artifact of your build is a chat log, you already handed the model the steering wheel.</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On VettaJimale.Tech, Templates is not a swipe file of pretty Notion pages. It is three fillable forms from the same method as the book and the kit.</a:t>
            </a:r>
          </a:p>
          <a:p>
            <a:pPr>
              <a:spcAft>
                <a:spcPts val="1000"/>
              </a:spcAft>
              <a:defRPr sz="2000" b="0">
                <a:solidFill>
                  <a:srgbClr val="1C1C1C"/>
                </a:solidFill>
                <a:latin typeface="Calibri"/>
              </a:defRPr>
            </a:pPr>
            <a:r>
              <a:t>Use them in this order, unless you are mid-incident, in which case jump to number three.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One: ROADMAP. Write the destination in language a tired future-you will still understand. What are you building, for whom, what does done look like at the next milestone — not at “version forever.” If you cannot write the destination, you are not ready to prompt for architecture. You are ready to think.</a:t>
            </a:r>
          </a:p>
          <a:p>
            <a:pPr>
              <a:spcAft>
                <a:spcPts val="1000"/>
              </a:spcAft>
              <a:defRPr sz="2000" b="0">
                <a:solidFill>
                  <a:srgbClr val="1C1C1C"/>
                </a:solidFill>
                <a:latin typeface="Calibri"/>
              </a:defRPr>
            </a:pPr>
            <a:r>
              <a:t>Two: Project Rules. This is the fence. What the tool may touch. What it must not touch. Stack, tone, files that are off limits, how you will verify. Put the rules where the tool can see them. A chat window with no rules will cheerfully invent a second product.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(3)</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Three: Before You Accept Done. Name the claim in one sentence. Click the path a stranger would use. Keep what you saw. If it failed, the next prompt starts from the failure, not from “fixed.” There is a sample tutorial with the same name if you want the why before the form. The smoke-test checklist in the free kit is the longer version.</a:t>
            </a:r>
          </a:p>
          <a:p>
            <a:pPr>
              <a:spcAft>
                <a:spcPts val="1000"/>
              </a:spcAft>
              <a:defRPr sz="2000" b="0">
                <a:solidFill>
                  <a:srgbClr val="1C1C1C"/>
                </a:solidFill>
                <a:latin typeface="Calibri"/>
              </a:defRPr>
            </a:pPr>
            <a:r>
              <a:t>Fill in the browser. Download Markdown when the notes belong in the repo. Download PDF when you need something you can hand a person. Then — only then — prompt.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(4)</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Skip ROADMAP if the destination is already written somewhere honest. Never skip Before You Accept Done on a change a user will touch.</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1 ROADMAP — destination, next milestone</a:t>
            </a:r>
          </a:p>
          <a:p>
            <a:pPr>
              <a:spcAft>
                <a:spcPts val="1000"/>
              </a:spcAft>
              <a:defRPr sz="2000" b="0">
                <a:solidFill>
                  <a:srgbClr val="1C1C1C"/>
                </a:solidFill>
                <a:latin typeface="Calibri"/>
              </a:defRPr>
            </a:pPr>
            <a:r>
              <a:t>2 Project Rules — the fence</a:t>
            </a:r>
          </a:p>
          <a:p>
            <a:pPr>
              <a:spcAft>
                <a:spcPts val="1000"/>
              </a:spcAft>
              <a:defRPr sz="2000" b="0">
                <a:solidFill>
                  <a:srgbClr val="1C1C1C"/>
                </a:solidFill>
                <a:latin typeface="Calibri"/>
              </a:defRPr>
            </a:pPr>
            <a:r>
              <a:t>3 Before You Accept Done — claim, click, receipt</a:t>
            </a:r>
          </a:p>
          <a:p>
            <a:pPr>
              <a:spcAft>
                <a:spcPts val="1000"/>
              </a:spcAft>
              <a:defRPr sz="2000" b="0">
                <a:solidFill>
                  <a:srgbClr val="1C1C1C"/>
                </a:solidFill>
                <a:latin typeface="Calibri"/>
              </a:defRPr>
            </a:pPr>
            <a:r>
              <a:t>Export: Markdown for the repo · PDF for a person</a:t>
            </a:r>
          </a:p>
          <a:p>
            <a:pPr>
              <a:spcAft>
                <a:spcPts val="1000"/>
              </a:spcAft>
              <a:defRPr sz="2000" b="0">
                <a:solidFill>
                  <a:srgbClr val="1C1C1C"/>
                </a:solidFill>
                <a:latin typeface="Calibri"/>
              </a:defRPr>
            </a:pPr>
            <a:r>
              <a:t>Then prompt</a:t>
            </a:r>
          </a:p>
          <a:p>
            <a:pPr>
              <a:spcAft>
                <a:spcPts val="1000"/>
              </a:spcAft>
              <a:defRPr sz="2000" b="0">
                <a:solidFill>
                  <a:srgbClr val="1C1C1C"/>
                </a:solidFill>
                <a:latin typeface="Calibri"/>
              </a:defRPr>
            </a:pPr>
            <a:r>
              <a:t>/resources/templates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Do not start a build in the chat window. On VettaJimale.Tech → Templates, fill three forms. ROADMAP: the destination and the next milestone. Project Rules: what the tool may and must not touch. Before You Accept Done: name the claim, click the path, keep the receipt. Download Markdown or PDF. Then prompt. Mid-incident? Jump to number three. The sample tutorial is the why; the kit’s smoke test is the longer checklist.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11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Templates: /resources/templates  Tutorial (sample): /resources/before-you-accept-done  Kit: /free-kit</a:t>
            </a:r>
          </a:p>
          <a:p>
            <a:pPr>
              <a:spcAft>
                <a:spcPts val="1000"/>
              </a:spcAft>
              <a:defRPr sz="1800" b="0">
                <a:solidFill>
                  <a:srgbClr val="1C1C1C"/>
                </a:solidFill>
                <a:latin typeface="Calibri"/>
              </a:defRPr>
            </a:pPr>
            <a:r>
              <a:t>Call to action: Fill one form for the task already on your desk. Export it. Then open the chat.</a:t>
            </a:r>
          </a:p>
          <a:p>
            <a:pPr>
              <a:spcAft>
                <a:spcPts val="1000"/>
              </a:spcAft>
              <a:defRPr sz="1800" b="0">
                <a:solidFill>
                  <a:srgbClr val="1C1C1C"/>
                </a:solidFill>
                <a:latin typeface="Calibri"/>
              </a:defRPr>
            </a:pPr>
            <a:r>
              <a:t>Do not say: Do not demo all three forms at novel length in one video. Show the order, fill a few real lines, export, stop.</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12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How to use it — tools by job, with limits</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Teach the tools shelf as a decision aid, including how to read limitations and official references.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12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Someone about to paste an API key because a YouTube video used that vendor.</a:t>
            </a:r>
          </a:p>
          <a:p>
            <a:pPr>
              <a:spcAft>
                <a:spcPts val="1000"/>
              </a:spcAft>
              <a:defRPr sz="2000" b="0">
                <a:solidFill>
                  <a:srgbClr val="1C1C1C"/>
                </a:solidFill>
                <a:latin typeface="Calibri"/>
              </a:defRPr>
            </a:pPr>
            <a:r>
              <a:t>Platform: Screen recording, 45–70s, one worked job (forms, checkout, or email — pick the one you can show honestly).</a:t>
            </a:r>
          </a:p>
          <a:p>
            <a:pPr>
              <a:spcAft>
                <a:spcPts val="1000"/>
              </a:spcAft>
              <a:defRPr sz="2000" b="0">
                <a:solidFill>
                  <a:srgbClr val="1C1C1C"/>
                </a:solidFill>
                <a:latin typeface="Calibri"/>
              </a:defRPr>
            </a:pPr>
            <a:r>
              <a:t>Show: Scroll to a single job. Highlight limitations. Highlight official reference. Do not speed-rake the whole catalog.</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12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Most tool lists are organized by hype.</a:t>
            </a:r>
          </a:p>
          <a:p>
            <a:pPr>
              <a:spcAft>
                <a:spcPts val="1000"/>
              </a:spcAft>
              <a:defRPr sz="2200" b="0">
                <a:solidFill>
                  <a:srgbClr val="1C1C1C"/>
                </a:solidFill>
                <a:latin typeface="Calibri"/>
              </a:defRPr>
            </a:pPr>
            <a:r>
              <a:t>This one is organized by the job.</a:t>
            </a:r>
          </a:p>
          <a:p>
            <a:pPr>
              <a:spcAft>
                <a:spcPts val="1000"/>
              </a:spcAft>
              <a:defRPr sz="2200" b="0">
                <a:solidFill>
                  <a:srgbClr val="1C1C1C"/>
                </a:solidFill>
                <a:latin typeface="Calibri"/>
              </a:defRPr>
            </a:pPr>
            <a:r>
              <a:t>Need a newsletter? A form? A checkout? Look up the job, see what I use, see the limits, follow the official docs.</a:t>
            </a:r>
          </a:p>
          <a:p>
            <a:pPr>
              <a:spcAft>
                <a:spcPts val="1000"/>
              </a:spcAft>
              <a:defRPr sz="2200" b="0">
                <a:solidFill>
                  <a:srgbClr val="1C1C1C"/>
                </a:solidFill>
                <a:latin typeface="Calibri"/>
              </a:defRPr>
            </a:pPr>
            <a:r>
              <a:t>That’s Tools &amp; Updates. Use it when you’re about to add a tool, not when you’re bored.</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12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Correct thesis, no procedure. People need a worked example (one job), what columns to trust, what not to treat as a buying guide, and the rule to leave for official docs.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12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Do not pick a tool because it won a roundup. Pick it because it does the job you have, and because you have read what it will not do.</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12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Tools and Updates on VettaJimale.Tech is a reference shelf, not a giveaway of discount codes. It is organized by the job the software does.</a:t>
            </a:r>
          </a:p>
          <a:p>
            <a:pPr>
              <a:spcAft>
                <a:spcPts val="1000"/>
              </a:spcAft>
              <a:defRPr sz="2000" b="0">
                <a:solidFill>
                  <a:srgbClr val="1C1C1C"/>
                </a:solidFill>
                <a:latin typeface="Calibri"/>
              </a:defRPr>
            </a:pPr>
            <a:r>
              <a:t>That sounds small. It is the whole correction. Hype lists are organized by novelty. Job lists are organized by your actual bottleneck: capture a lead, send a letter, take a payment, host a form, keep a list.</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12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How to use it. Write the job in a sentence before you open the page. “I need people to be able to sign up for a PDF kit.” Then find that job. Read what I use, and the researched options next to it. Then read the limitations. If you skip the limitations you are using the page wrong. Then follow the official reference — not a random tutorial that may be two versions behind.</a:t>
            </a:r>
          </a:p>
          <a:p>
            <a:pPr>
              <a:spcAft>
                <a:spcPts val="1000"/>
              </a:spcAft>
              <a:defRPr sz="2000" b="0">
                <a:solidFill>
                  <a:srgbClr val="1C1C1C"/>
                </a:solidFill>
                <a:latin typeface="Calibri"/>
              </a:defRPr>
            </a:pPr>
            <a:r>
              <a:t>Use this page when you are about to add a tool, not when you are bored. Boredom is how you collect seven dashboards and zero shipped features.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12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(3)</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If the row makes you slower, good. Slower than a bad vendor decision is still faster than a year of undo.</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12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Write the job in one sentence first</a:t>
            </a:r>
          </a:p>
          <a:p>
            <a:pPr>
              <a:spcAft>
                <a:spcPts val="1000"/>
              </a:spcAft>
              <a:defRPr sz="2000" b="0">
                <a:solidFill>
                  <a:srgbClr val="1C1C1C"/>
                </a:solidFill>
                <a:latin typeface="Calibri"/>
              </a:defRPr>
            </a:pPr>
            <a:r>
              <a:t>Open Tools &amp; Updates</a:t>
            </a:r>
          </a:p>
          <a:p>
            <a:pPr>
              <a:spcAft>
                <a:spcPts val="1000"/>
              </a:spcAft>
              <a:defRPr sz="2000" b="0">
                <a:solidFill>
                  <a:srgbClr val="1C1C1C"/>
                </a:solidFill>
                <a:latin typeface="Calibri"/>
              </a:defRPr>
            </a:pPr>
            <a:r>
              <a:t>Read: what I use · options · limits · official docs</a:t>
            </a:r>
          </a:p>
          <a:p>
            <a:pPr>
              <a:spcAft>
                <a:spcPts val="1000"/>
              </a:spcAft>
              <a:defRPr sz="2000" b="0">
                <a:solidFill>
                  <a:srgbClr val="1C1C1C"/>
                </a:solidFill>
                <a:latin typeface="Calibri"/>
              </a:defRPr>
            </a:pPr>
            <a:r>
              <a:t>“Skip the limits = using it wrong”</a:t>
            </a:r>
          </a:p>
          <a:p>
            <a:pPr>
              <a:spcAft>
                <a:spcPts val="1000"/>
              </a:spcAft>
              <a:defRPr sz="2000" b="0">
                <a:solidFill>
                  <a:srgbClr val="1C1C1C"/>
                </a:solidFill>
                <a:latin typeface="Calibri"/>
              </a:defRPr>
            </a:pPr>
            <a:r>
              <a:t>/resources/tools-and-updates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12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Tools &amp; Updates on VettaJimale.Tech is organized by the job, not by the hype cycle. Write the job in one sentence. Find that row. Read what VJ uses, the researched options, the limitations, then the official docs. Use it when you are about to add a tool, not when you are bored. If the limits make you slower, that is the feature.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12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Go in with a job already written. If you cannot write the job, you do not need a new vendor. You need ROADMAP.</a:t>
            </a:r>
          </a:p>
          <a:p>
            <a:pPr>
              <a:spcAft>
                <a:spcPts val="1000"/>
              </a:spcAft>
              <a:defRPr sz="1800" b="0">
                <a:solidFill>
                  <a:srgbClr val="1C1C1C"/>
                </a:solidFill>
                <a:latin typeface="Calibri"/>
              </a:defRPr>
            </a:pPr>
            <a:r>
              <a:t>Call to action: Write one sentence. Open one row. Read the limits out loud.</a:t>
            </a:r>
          </a:p>
          <a:p>
            <a:pPr>
              <a:spcAft>
                <a:spcPts val="1000"/>
              </a:spcAft>
              <a:defRPr sz="1800" b="0">
                <a:solidFill>
                  <a:srgbClr val="1C1C1C"/>
                </a:solidFill>
                <a:latin typeface="Calibri"/>
              </a:defRPr>
            </a:pPr>
            <a:r>
              <a:t>Do not say: Do not turn this into “my stack reveal” clout. Do not imply every listed tool is an endorsement without the limitations.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13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Why follow — you need a filter, not more tools</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A complete follow-reason: what following gives, what it does not, how the site and the social feed divide labor.</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13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People about to tap Follow. Also people who should not.</a:t>
            </a:r>
          </a:p>
          <a:p>
            <a:pPr>
              <a:spcAft>
                <a:spcPts val="1000"/>
              </a:spcAft>
              <a:defRPr sz="2000" b="0">
                <a:solidFill>
                  <a:srgbClr val="1C1C1C"/>
                </a:solidFill>
                <a:latin typeface="Calibri"/>
              </a:defRPr>
            </a:pPr>
            <a:r>
              <a:t>Platform: 25–40s Reel. Use as a profile video or a follow-gate at the end of tutorials.</a:t>
            </a:r>
          </a:p>
          <a:p>
            <a:pPr>
              <a:spcAft>
                <a:spcPts val="1000"/>
              </a:spcAft>
              <a:defRPr sz="2000" b="0">
                <a:solidFill>
                  <a:srgbClr val="1C1C1C"/>
                </a:solidFill>
                <a:latin typeface="Calibri"/>
              </a:defRPr>
            </a:pPr>
            <a:r>
              <a:t>Show: Direct to camera. No trending audio that fights the words. End on Follow + URL, not Follow only.</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13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Follow if you are tired of AI content that never gets checked.</a:t>
            </a:r>
          </a:p>
          <a:p>
            <a:pPr>
              <a:spcAft>
                <a:spcPts val="1000"/>
              </a:spcAft>
              <a:defRPr sz="2200" b="0">
                <a:solidFill>
                  <a:srgbClr val="1C1C1C"/>
                </a:solidFill>
                <a:latin typeface="Calibri"/>
              </a:defRPr>
            </a:pPr>
            <a:r>
              <a:t>I test ideas, ask questions, and share the useful parts.</a:t>
            </a:r>
          </a:p>
          <a:p>
            <a:pPr>
              <a:spcAft>
                <a:spcPts val="1000"/>
              </a:spcAft>
              <a:defRPr sz="2200" b="0">
                <a:solidFill>
                  <a:srgbClr val="1C1C1C"/>
                </a:solidFill>
                <a:latin typeface="Calibri"/>
              </a:defRPr>
            </a:pPr>
            <a:r>
              <a:t>You don’t need more tools. You need a filter.</a:t>
            </a:r>
          </a:p>
          <a:p>
            <a:pPr>
              <a:spcAft>
                <a:spcPts val="1000"/>
              </a:spcAft>
              <a:defRPr sz="2200" b="0">
                <a:solidFill>
                  <a:srgbClr val="1C1C1C"/>
                </a:solidFill>
                <a:latin typeface="Calibri"/>
              </a:defRPr>
            </a:pPr>
            <a:r>
              <a:t>That’s why the site exists. Follow for the checks, not the cheerleading.</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13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“Follow for the vibe” is still a vibe. Completeness means the content mix, the cadence honesty, the difference between following on social versus using the site, and a disqualify line for the wrong audience.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13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If you follow me for tool dumps, you will be disappointed. If you follow me for a filter, you are early in the right place.</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13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Here is why to follow, said as a contract.</a:t>
            </a:r>
          </a:p>
          <a:p>
            <a:pPr>
              <a:spcAft>
                <a:spcPts val="1000"/>
              </a:spcAft>
              <a:defRPr sz="2000" b="0">
                <a:solidFill>
                  <a:srgbClr val="1C1C1C"/>
                </a:solidFill>
                <a:latin typeface="Calibri"/>
              </a:defRPr>
            </a:pPr>
            <a:r>
              <a:t>I am VJ. I test ideas, ask questions, and share the useful parts. Technology moves fast. I focus on what is real, what is practical, and what actually helps builders move forward.</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13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You do not need more tools. You need a filter: a person who will say when a claim fell apart, when a shelf is empty, when a kit is a preview and not a full chapter, when “done” is a sentence you have to check.</a:t>
            </a:r>
          </a:p>
          <a:p>
            <a:pPr>
              <a:spcAft>
                <a:spcPts val="1000"/>
              </a:spcAft>
              <a:defRPr sz="2000" b="0">
                <a:solidFill>
                  <a:srgbClr val="1C1C1C"/>
                </a:solidFill>
                <a:latin typeface="Calibri"/>
              </a:defRPr>
            </a:pPr>
            <a:r>
              <a:t>What following on social gets you: the short version of that filter, pointed at whatever I am testing now, plus a reminder to go use the site — the check, the templates, the tools shelf, the kit, the book.</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13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(3)</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What following does not get you: a daily dopamine feed, a private Discord, or a newsletter that is already running. The Stay curious list is separate from the free kit, and it is not open yet. I will not pretend it is.</a:t>
            </a:r>
          </a:p>
          <a:p>
            <a:pPr>
              <a:spcAft>
                <a:spcPts val="1000"/>
              </a:spcAft>
              <a:defRPr sz="2000" b="0">
                <a:solidFill>
                  <a:srgbClr val="1C1C1C"/>
                </a:solidFill>
                <a:latin typeface="Calibri"/>
              </a:defRPr>
            </a:pPr>
            <a:r>
              <a:t>If you want cheerleading, mute me. If you want checks, follow, then open VettaJimale.Tech and do one thing so the follow is not just a number.</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13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 filter, not a tool dump”</a:t>
            </a:r>
          </a:p>
          <a:p>
            <a:pPr>
              <a:spcAft>
                <a:spcPts val="1000"/>
              </a:spcAft>
              <a:defRPr sz="2000" b="0">
                <a:solidFill>
                  <a:srgbClr val="1C1C1C"/>
                </a:solidFill>
                <a:latin typeface="Calibri"/>
              </a:defRPr>
            </a:pPr>
            <a:r>
              <a:t>Real · practical · checked</a:t>
            </a:r>
          </a:p>
          <a:p>
            <a:pPr>
              <a:spcAft>
                <a:spcPts val="1000"/>
              </a:spcAft>
              <a:defRPr sz="2000" b="0">
                <a:solidFill>
                  <a:srgbClr val="1C1C1C"/>
                </a:solidFill>
                <a:latin typeface="Calibri"/>
              </a:defRPr>
            </a:pPr>
            <a:r>
              <a:t>Social = short filter  ·  Site = workbench</a:t>
            </a:r>
          </a:p>
          <a:p>
            <a:pPr>
              <a:spcAft>
                <a:spcPts val="1000"/>
              </a:spcAft>
              <a:defRPr sz="2000" b="0">
                <a:solidFill>
                  <a:srgbClr val="1C1C1C"/>
                </a:solidFill>
                <a:latin typeface="Calibri"/>
              </a:defRPr>
            </a:pPr>
            <a:r>
              <a:t>Newsletter: not open yet. Kit: free. Book: $17.</a:t>
            </a:r>
          </a:p>
          <a:p>
            <a:pPr>
              <a:spcAft>
                <a:spcPts val="1000"/>
              </a:spcAft>
              <a:defRPr sz="2000" b="0">
                <a:solidFill>
                  <a:srgbClr val="1C1C1C"/>
                </a:solidFill>
                <a:latin typeface="Calibri"/>
              </a:defRPr>
            </a:pPr>
            <a:r>
              <a:t>Follow if you want the checks.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13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Why follow VJ: you need a filter, not more tools. I test ideas, ask questions, and share the useful parts. Social is the short filter. VettaJimale.Tech is the workbench — literacy check, templates, tools by job, free kit, $17 book. No daily dopamine feed. No fake newsletter. Stay curious is not open yet. Follow for the checks, then go do one thing on the site so the follow is not a trophy.</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13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If you only follow and never open the site, you opted into quotes instead of a workbench. URL in bio.</a:t>
            </a:r>
          </a:p>
          <a:p>
            <a:pPr>
              <a:spcAft>
                <a:spcPts val="1000"/>
              </a:spcAft>
              <a:defRPr sz="1800" b="0">
                <a:solidFill>
                  <a:srgbClr val="1C1C1C"/>
                </a:solidFill>
                <a:latin typeface="Calibri"/>
              </a:defRPr>
            </a:pPr>
            <a:r>
              <a:t>Call to action: Follow. Then take the literacy check or fill one template. That is the complete action.</a:t>
            </a:r>
          </a:p>
          <a:p>
            <a:pPr>
              <a:spcAft>
                <a:spcPts val="1000"/>
              </a:spcAft>
              <a:defRPr sz="1800" b="0">
                <a:solidFill>
                  <a:srgbClr val="1C1C1C"/>
                </a:solidFill>
                <a:latin typeface="Calibri"/>
              </a:defRPr>
            </a:pPr>
            <a:r>
              <a:t>Do not say: Do not say “join the movement.” Do not promise reply-guy energy on every comment. Do not bait with “comment TOOLS for the list” when the list is already public.</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14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Why follow — useful, not theoretical (weekly habit)</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Turn the brand line into a repeatable habit for the follower, with a concrete weekly ask.</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14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Quiet builders. Teachers. Marketers using AI. People who will never duet a video and will still use a template.</a:t>
            </a:r>
          </a:p>
          <a:p>
            <a:pPr>
              <a:spcAft>
                <a:spcPts val="1000"/>
              </a:spcAft>
              <a:defRPr sz="2000" b="0">
                <a:solidFill>
                  <a:srgbClr val="1C1C1C"/>
                </a:solidFill>
                <a:latin typeface="Calibri"/>
              </a:defRPr>
            </a:pPr>
            <a:r>
              <a:t>Platform: Static + long caption, or a calm 40s talking-head. Good for LinkedIn and Instagram both.</a:t>
            </a:r>
          </a:p>
          <a:p>
            <a:pPr>
              <a:spcAft>
                <a:spcPts val="1000"/>
              </a:spcAft>
              <a:defRPr sz="2000" b="0">
                <a:solidFill>
                  <a:srgbClr val="1C1C1C"/>
                </a:solidFill>
                <a:latin typeface="Calibri"/>
              </a:defRPr>
            </a:pPr>
            <a:r>
              <a:t>Show: Text on the dark green field. Optional: VJ on camera, no jump cuts. The energy should match “useful, not theoretical.”</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14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I explore technology, test ideas, and share what I learn so you can put it to work.</a:t>
            </a:r>
          </a:p>
          <a:p>
            <a:pPr>
              <a:spcAft>
                <a:spcPts val="1000"/>
              </a:spcAft>
              <a:defRPr sz="2200" b="0">
                <a:solidFill>
                  <a:srgbClr val="1C1C1C"/>
                </a:solidFill>
                <a:latin typeface="Calibri"/>
              </a:defRPr>
            </a:pPr>
            <a:r>
              <a:t>If that’s useful to you, follow, then go do one thing on VettaJimale.Tech this week: the check, a template, or the free kit.</a:t>
            </a:r>
          </a:p>
          <a:p>
            <a:pPr>
              <a:spcAft>
                <a:spcPts val="1000"/>
              </a:spcAft>
              <a:defRPr sz="2200" b="0">
                <a:solidFill>
                  <a:srgbClr val="1C1C1C"/>
                </a:solidFill>
                <a:latin typeface="Calibri"/>
              </a:defRPr>
            </a:pPr>
            <a:r>
              <a:t>Stay curious. Don’t swallow the demo.</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14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The line is true and still generic. A robust version specifies what “put it to work” looks like in a week, names the three doors again, and gives people permission to follow quietly without performing in the comments.</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14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Useful, not theoretical. That is not a tagline on VettaJimale.Tech. It is the rejection criteria for what I publish.</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14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I explore technology, test ideas, and share what I learn so you can put it to work. If a note cannot survive that sentence, it does not belong on the site.</a:t>
            </a:r>
          </a:p>
          <a:p>
            <a:pPr>
              <a:spcAft>
                <a:spcPts val="1000"/>
              </a:spcAft>
              <a:defRPr sz="2000" b="0">
                <a:solidFill>
                  <a:srgbClr val="1C1C1C"/>
                </a:solidFill>
                <a:latin typeface="Calibri"/>
              </a:defRPr>
            </a:pPr>
            <a:r>
              <a:t>Putting it to work has a shape. This week, not “when I have a startup.” You either take the literacy check and repair one miss, or you fill one template for a task that already exists, or you download the free kit and run one prompt plus the smoke test on something you will actually ship.</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14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Following me is how you get reminded that the demo is not the product. Using the site is how you get the artifact. If you only do the first half, you collected quotes. If you do both, you have a fence around the next prompt.</a:t>
            </a:r>
          </a:p>
          <a:p>
            <a:pPr>
              <a:spcAft>
                <a:spcPts val="1000"/>
              </a:spcAft>
              <a:defRPr sz="2000" b="0">
                <a:solidFill>
                  <a:srgbClr val="1C1C1C"/>
                </a:solidFill>
                <a:latin typeface="Calibri"/>
              </a:defRPr>
            </a:pPr>
            <a:r>
              <a:t>You do not have to comment “interested” for a link. The library is public. Samples are labeled. Empty shelves are admitted. Stay curious — and do not swallow the demo.</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14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“Useful, not theoretical.”</a:t>
            </a:r>
          </a:p>
          <a:p>
            <a:pPr>
              <a:spcAft>
                <a:spcPts val="1000"/>
              </a:spcAft>
              <a:defRPr sz="2000" b="0">
                <a:solidFill>
                  <a:srgbClr val="1C1C1C"/>
                </a:solidFill>
                <a:latin typeface="Calibri"/>
              </a:defRPr>
            </a:pPr>
            <a:r>
              <a:t>This week: check or template or kit — one.</a:t>
            </a:r>
          </a:p>
          <a:p>
            <a:pPr>
              <a:spcAft>
                <a:spcPts val="1000"/>
              </a:spcAft>
              <a:defRPr sz="2000" b="0">
                <a:solidFill>
                  <a:srgbClr val="1C1C1C"/>
                </a:solidFill>
                <a:latin typeface="Calibri"/>
              </a:defRPr>
            </a:pPr>
            <a:r>
              <a:t>Follow = reminder. Site = artifact.</a:t>
            </a:r>
          </a:p>
          <a:p>
            <a:pPr>
              <a:spcAft>
                <a:spcPts val="1000"/>
              </a:spcAft>
              <a:defRPr sz="2000" b="0">
                <a:solidFill>
                  <a:srgbClr val="1C1C1C"/>
                </a:solidFill>
                <a:latin typeface="Calibri"/>
              </a:defRPr>
            </a:pPr>
            <a:r>
              <a:t>Stay curious. Don’t swallow the demo.</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14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I explore technology, test ideas, and share what I learn so you can put it to work. That is the rejection criteria for VettaJimale.Tech. This week, do one: the vibe coding literacy check, one fillable template, or the free kit plus a smoke test on a real task. Follow for the reminder. Use the site for the artifact. You do not need to comment for a link. Stay curious. Do not swallow the demo.</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14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Three doors, no gate: /resources/vibe-coding-literacy-check · /resources/templates · /free-kit</a:t>
            </a:r>
          </a:p>
          <a:p>
            <a:pPr>
              <a:spcAft>
                <a:spcPts val="1000"/>
              </a:spcAft>
              <a:defRPr sz="1800" b="0">
                <a:solidFill>
                  <a:srgbClr val="1C1C1C"/>
                </a:solidFill>
                <a:latin typeface="Calibri"/>
              </a:defRPr>
            </a:pPr>
            <a:r>
              <a:t>Call to action: Pick the weekly door. Mute the rest of the internet until it is done.</a:t>
            </a:r>
          </a:p>
          <a:p>
            <a:pPr>
              <a:spcAft>
                <a:spcPts val="1000"/>
              </a:spcAft>
              <a:defRPr sz="1800" b="0">
                <a:solidFill>
                  <a:srgbClr val="1C1C1C"/>
                </a:solidFill>
                <a:latin typeface="Calibri"/>
              </a:defRPr>
            </a:pPr>
            <a:r>
              <a:t>Do not say: Do not add a giveaway. Do not ask people to tag three friends. That is theoretical engagement.</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Script 15 of 15</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Why follow — the pinned “who is this / what you get over time” film</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The complete pin: person, site, offers, method, cadence, disqualifiers, first action. This replaces a weak about video.</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15 of 15</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Who it’s for, and how to shoot it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Audience: Anyone landing on the profile for the first time. Also anyone you meet offline who asks “so what do you do.”</a:t>
            </a:r>
          </a:p>
          <a:p>
            <a:pPr>
              <a:spcAft>
                <a:spcPts val="1000"/>
              </a:spcAft>
              <a:defRPr sz="2000" b="0">
                <a:solidFill>
                  <a:srgbClr val="1C1C1C"/>
                </a:solidFill>
                <a:latin typeface="Calibri"/>
              </a:defRPr>
            </a:pPr>
            <a:r>
              <a:t>Platform: 90–120s talking-head with chapter cards. Pin it. Cut a 20s trailer later; do not replace this with the trailer.</a:t>
            </a:r>
          </a:p>
          <a:p>
            <a:pPr>
              <a:spcAft>
                <a:spcPts val="1000"/>
              </a:spcAft>
              <a:defRPr sz="2000" b="0">
                <a:solidFill>
                  <a:srgbClr val="1C1C1C"/>
                </a:solidFill>
                <a:latin typeface="Calibri"/>
              </a:defRPr>
            </a:pPr>
            <a:r>
              <a:t>Show: Chapters: Person / Site / Offers / Method / Cadence / Not for you / First action. Show the real homepage and one real tool. Spell the URL on screen for the last eight seconds.</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15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The first draft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200" b="0">
                <a:solidFill>
                  <a:srgbClr val="1C1C1C"/>
                </a:solidFill>
                <a:latin typeface="Calibri"/>
              </a:defRPr>
            </a:pPr>
            <a:r>
              <a:t>Here’s the deal if you follow.</a:t>
            </a:r>
          </a:p>
          <a:p>
            <a:pPr>
              <a:spcAft>
                <a:spcPts val="1000"/>
              </a:spcAft>
              <a:defRPr sz="2200" b="0">
                <a:solidFill>
                  <a:srgbClr val="1C1C1C"/>
                </a:solidFill>
                <a:latin typeface="Calibri"/>
              </a:defRPr>
            </a:pPr>
            <a:r>
              <a:t>You get a person who is actually in the tools — Claude, Cursor, the boring stack around a real site.</a:t>
            </a:r>
          </a:p>
          <a:p>
            <a:pPr>
              <a:spcAft>
                <a:spcPts val="1000"/>
              </a:spcAft>
              <a:defRPr sz="2200" b="0">
                <a:solidFill>
                  <a:srgbClr val="1C1C1C"/>
                </a:solidFill>
                <a:latin typeface="Calibri"/>
              </a:defRPr>
            </a:pPr>
            <a:r>
              <a:t>You get public notes: what worked, what died, what changed.</a:t>
            </a:r>
          </a:p>
          <a:p>
            <a:pPr>
              <a:spcAft>
                <a:spcPts val="1000"/>
              </a:spcAft>
              <a:defRPr sz="2200" b="0">
                <a:solidFill>
                  <a:srgbClr val="1C1C1C"/>
                </a:solidFill>
                <a:latin typeface="Calibri"/>
              </a:defRPr>
            </a:pPr>
            <a:r>
              <a:t>You get free things you can use without buying. The book is there when you want the full argument.</a:t>
            </a:r>
          </a:p>
          <a:p>
            <a:pPr>
              <a:spcAft>
                <a:spcPts val="1000"/>
              </a:spcAft>
              <a:defRPr sz="2200" b="0">
                <a:solidFill>
                  <a:srgbClr val="1C1C1C"/>
                </a:solidFill>
                <a:latin typeface="Calibri"/>
              </a:defRPr>
            </a:pPr>
            <a:r>
              <a:t>You will not get a daily dopamine feed. You will get the next useful piece.</a:t>
            </a:r>
          </a:p>
          <a:p>
            <a:pPr>
              <a:spcAft>
                <a:spcPts val="1000"/>
              </a:spcAft>
              <a:defRPr sz="2200" b="0">
                <a:solidFill>
                  <a:srgbClr val="1C1C1C"/>
                </a:solidFill>
                <a:latin typeface="Calibri"/>
              </a:defRPr>
            </a:pPr>
            <a:r>
              <a:t>VettaJimale.Tech. Come for one resource. Stay if the honesty helps you build.</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15 of 15 — original</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Why that was too thin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This was the strongest original and still moved too fast to be a pin. A pin has to survive strangers, returning visitors, and people who only watch with sound off. It needs chapters, on-screen labels, and an honest “not for you if.”</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Hook</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400" b="0">
                <a:solidFill>
                  <a:srgbClr val="1C1C1C"/>
                </a:solidFill>
                <a:latin typeface="Calibri"/>
              </a:defRPr>
            </a:pPr>
            <a:r>
              <a:t>If you are going to follow one builder this year, you deserve to know what you are actually getting, and what you are not.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(1)</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I am Vetta Jimale. VJ. Writer, marketer, creator, and AI builder. I test ideas, ask questions, and share the useful parts. The site is VettaJimale.Tech — one word, dot tech.</a:t>
            </a:r>
          </a:p>
          <a:p>
            <a:pPr>
              <a:spcAft>
                <a:spcPts val="1000"/>
              </a:spcAft>
              <a:defRPr sz="2000" b="0">
                <a:solidFill>
                  <a:srgbClr val="1C1C1C"/>
                </a:solidFill>
                <a:latin typeface="Calibri"/>
              </a:defRPr>
            </a:pPr>
            <a:r>
              <a:t>What the site is: a public workbench for making sense of technology while it is moving. A resource library. Fillable templates. A tools shelf organized by job, with limits written down. A twenty-question literacy check with no signup. Essays like AI is not smarter than you. A Building in Public lane for receipts — including dead ends. Some pieces are labeled sample. At least one shelf is not published yet. I will tell you that up front because the alternative is theater.</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(2)</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What you can take without paying: the Resources tools I just named, and the free starter kit — previews from three chapters, six prompts, checklists, a pocket glossary, lessons from the builds. The PDF is free. You get the download on the next page and in email.</a:t>
            </a:r>
          </a:p>
          <a:p>
            <a:pPr>
              <a:spcAft>
                <a:spcPts val="1000"/>
              </a:spcAft>
              <a:defRPr sz="2000" b="0">
                <a:solidFill>
                  <a:srgbClr val="1C1C1C"/>
                </a:solidFill>
                <a:latin typeface="Calibri"/>
              </a:defRPr>
            </a:pPr>
            <a:r>
              <a:t>What you can buy if you want the complete how: I Call BS: AI Vibe Coding Myths Dispelled. Thirteen chapters. Digital PDF. Seventeen dollars. You do not buy it to unlock the kit. The kit stays free.</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(3)</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How to use all of it: name the claim, try the path yourself, keep what you saw, then prompt inside a fence — roadmap, project rules, before you accept done. That method is the site. The social feed is the reminder.</a:t>
            </a:r>
          </a:p>
          <a:p>
            <a:pPr>
              <a:spcAft>
                <a:spcPts val="1000"/>
              </a:spcAft>
              <a:defRPr sz="2000" b="0">
                <a:solidFill>
                  <a:srgbClr val="1C1C1C"/>
                </a:solidFill>
                <a:latin typeface="Calibri"/>
              </a:defRPr>
            </a:pPr>
            <a:r>
              <a:t>What you get over time if you follow: the next useful piece from work I am actually in — Claude Code, Cursor, and the unglamorous stack around a real site. Notes on what worked, what died, and what changed. Not a daily dopamine feed. Not a fake waitlist. The occasional notes list is not open yet.</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Spoken script (4)</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This is not for you if you want secrets, hustle theater, or someone who will tell you the model is smarter than you. It is for you if you want to stay curious without swallowing the demo.</a:t>
            </a:r>
          </a:p>
          <a:p>
            <a:pPr>
              <a:spcAft>
                <a:spcPts val="1000"/>
              </a:spcAft>
              <a:defRPr sz="2000" b="0">
                <a:solidFill>
                  <a:srgbClr val="1C1C1C"/>
                </a:solidFill>
                <a:latin typeface="Calibri"/>
              </a:defRPr>
            </a:pPr>
            <a:r>
              <a:t>First action: VettaJimale.Tech, Explore Resources, one tool. Then follow so you can find the door again.</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On-screen text</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2000" b="0">
                <a:solidFill>
                  <a:srgbClr val="1C1C1C"/>
                </a:solidFill>
                <a:latin typeface="Calibri"/>
              </a:defRPr>
            </a:pPr>
            <a:r>
              <a:t>Ch 1 Person — Vetta Jimale / VJ</a:t>
            </a:r>
          </a:p>
          <a:p>
            <a:pPr>
              <a:spcAft>
                <a:spcPts val="1000"/>
              </a:spcAft>
              <a:defRPr sz="2000" b="0">
                <a:solidFill>
                  <a:srgbClr val="1C1C1C"/>
                </a:solidFill>
                <a:latin typeface="Calibri"/>
              </a:defRPr>
            </a:pPr>
            <a:r>
              <a:t>Ch 2 Site — workbench, not a course mill</a:t>
            </a:r>
          </a:p>
          <a:p>
            <a:pPr>
              <a:spcAft>
                <a:spcPts val="1000"/>
              </a:spcAft>
              <a:defRPr sz="2000" b="0">
                <a:solidFill>
                  <a:srgbClr val="1C1C1C"/>
                </a:solidFill>
                <a:latin typeface="Calibri"/>
              </a:defRPr>
            </a:pPr>
            <a:r>
              <a:t>Ch 3 Free — resources + kit (previews, not 3 full chapters)</a:t>
            </a:r>
          </a:p>
          <a:p>
            <a:pPr>
              <a:spcAft>
                <a:spcPts val="1000"/>
              </a:spcAft>
              <a:defRPr sz="2000" b="0">
                <a:solidFill>
                  <a:srgbClr val="1C1C1C"/>
                </a:solidFill>
                <a:latin typeface="Calibri"/>
              </a:defRPr>
            </a:pPr>
            <a:r>
              <a:t>Ch 4 Paid — I Call BS, $17 PDF</a:t>
            </a:r>
          </a:p>
          <a:p>
            <a:pPr>
              <a:spcAft>
                <a:spcPts val="1000"/>
              </a:spcAft>
              <a:defRPr sz="2000" b="0">
                <a:solidFill>
                  <a:srgbClr val="1C1C1C"/>
                </a:solidFill>
                <a:latin typeface="Calibri"/>
              </a:defRPr>
            </a:pPr>
            <a:r>
              <a:t>Ch 5 Method — name, try, keep, then prompt</a:t>
            </a:r>
          </a:p>
          <a:p>
            <a:pPr>
              <a:spcAft>
                <a:spcPts val="1000"/>
              </a:spcAft>
              <a:defRPr sz="2000" b="0">
                <a:solidFill>
                  <a:srgbClr val="1C1C1C"/>
                </a:solidFill>
                <a:latin typeface="Calibri"/>
              </a:defRPr>
            </a:pPr>
            <a:r>
              <a:t>Ch 6 Cadence — useful pieces, not daily dopamine</a:t>
            </a:r>
          </a:p>
          <a:p>
            <a:pPr>
              <a:spcAft>
                <a:spcPts val="1000"/>
              </a:spcAft>
              <a:defRPr sz="2000" b="0">
                <a:solidFill>
                  <a:srgbClr val="1C1C1C"/>
                </a:solidFill>
                <a:latin typeface="Calibri"/>
              </a:defRPr>
            </a:pPr>
            <a:r>
              <a:t>Ch 7 Not for you if — secrets / theater / “the model is smarter”</a:t>
            </a:r>
          </a:p>
          <a:p>
            <a:pPr>
              <a:spcAft>
                <a:spcPts val="1000"/>
              </a:spcAft>
              <a:defRPr sz="2000" b="0">
                <a:solidFill>
                  <a:srgbClr val="1C1C1C"/>
                </a:solidFill>
                <a:latin typeface="Calibri"/>
              </a:defRPr>
            </a:pPr>
            <a:r>
              <a:t>Ch 8 First action — URL for 8 seconds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Caption</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The deal if you follow VJ. Person: writer, marketer, creator, AI builder. Site: VettaJimale.Tech — a workbench. Free: resources (check, templates, tools by job, labeled samples) and a starter kit that is genuinely a kit, not three full chapters in disguise. Paid: I Call BS, $17 digital PDF, optional. Method: name the claim, try the path, keep the receipt, prompt inside a fence. Cadence: the next useful piece, not a dopamine feed. Newsletter not open yet. Not for you if you want theater. First action: open Resources and do one thing. Then follow so you can find it again.</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7F2E8"/>
        </a:solidFill>
        <a:effectLst/>
      </p:bgPr>
    </p:bg>
    <p:spTree>
      <p:nvGrpSpPr>
        <p:cNvPr id="1" name=""/>
        <p:cNvGrpSpPr/>
        <p:nvPr/>
      </p:nvGrpSpPr>
      <p:grpSpPr/>
      <p:sp>
        <p:nvSpPr>
          <p:cNvPr id="2" name="TextBox 1"/>
          <p:cNvSpPr txBox="1"/>
          <p:nvPr/>
        </p:nvSpPr>
        <p:spPr>
          <a:xfrm>
            <a:off x="594360" y="256032"/>
            <a:ext cx="10972800" cy="365760"/>
          </a:xfrm>
          <a:prstGeom prst="rect">
            <a:avLst/>
          </a:prstGeom>
          <a:noFill/>
        </p:spPr>
        <p:txBody>
          <a:bodyPr wrap="square"/>
          <a:lstStyle/>
          <a:p>
            <a:pPr>
              <a:spcAft>
                <a:spcPts val="800"/>
              </a:spcAft>
              <a:defRPr sz="1400" b="1">
                <a:solidFill>
                  <a:srgbClr val="1A3A32"/>
                </a:solidFill>
                <a:latin typeface="Calibri"/>
              </a:defRPr>
            </a:pPr>
            <a:r>
              <a:t>Script 15 of 15 — revision</a:t>
            </a:r>
          </a:p>
        </p:txBody>
      </p:sp>
      <p:sp>
        <p:nvSpPr>
          <p:cNvPr id="3" name="TextBox 2"/>
          <p:cNvSpPr txBox="1"/>
          <p:nvPr/>
        </p:nvSpPr>
        <p:spPr>
          <a:xfrm>
            <a:off x="594360" y="594360"/>
            <a:ext cx="10972800" cy="640080"/>
          </a:xfrm>
          <a:prstGeom prst="rect">
            <a:avLst/>
          </a:prstGeom>
          <a:noFill/>
        </p:spPr>
        <p:txBody>
          <a:bodyPr wrap="square"/>
          <a:lstStyle/>
          <a:p>
            <a:pPr>
              <a:spcAft>
                <a:spcPts val="400"/>
              </a:spcAft>
              <a:defRPr sz="2600" b="1">
                <a:solidFill>
                  <a:srgbClr val="1A3A32"/>
                </a:solidFill>
                <a:latin typeface="Calibri"/>
              </a:defRPr>
            </a:pPr>
            <a:r>
              <a:t>Comment, CTA, and do not say</a:t>
            </a:r>
          </a:p>
        </p:txBody>
      </p:sp>
      <p:sp>
        <p:nvSpPr>
          <p:cNvPr id="4" name="TextBox 3"/>
          <p:cNvSpPr txBox="1"/>
          <p:nvPr/>
        </p:nvSpPr>
        <p:spPr>
          <a:xfrm>
            <a:off x="594360" y="1325880"/>
            <a:ext cx="10972800" cy="5212080"/>
          </a:xfrm>
          <a:prstGeom prst="rect">
            <a:avLst/>
          </a:prstGeom>
          <a:noFill/>
        </p:spPr>
        <p:txBody>
          <a:bodyPr wrap="square"/>
          <a:lstStyle/>
          <a:p>
            <a:pPr>
              <a:spcAft>
                <a:spcPts val="1000"/>
              </a:spcAft>
              <a:defRPr sz="1800" b="0">
                <a:solidFill>
                  <a:srgbClr val="1C1C1C"/>
                </a:solidFill>
                <a:latin typeface="Calibri"/>
              </a:defRPr>
            </a:pPr>
            <a:r>
              <a:t>First comment: Pin companion links: /resources  /free-kit  /products/i-call-bs  Spelling: VettaJimale.Tech</a:t>
            </a:r>
          </a:p>
          <a:p>
            <a:pPr>
              <a:spcAft>
                <a:spcPts val="1000"/>
              </a:spcAft>
              <a:defRPr sz="1800" b="0">
                <a:solidFill>
                  <a:srgbClr val="1C1C1C"/>
                </a:solidFill>
                <a:latin typeface="Calibri"/>
              </a:defRPr>
            </a:pPr>
            <a:r>
              <a:t>Call to action: Watch once with sound. Screenshot the URL. Do one resource before you follow anyone else today.</a:t>
            </a:r>
          </a:p>
          <a:p>
            <a:pPr>
              <a:spcAft>
                <a:spcPts val="1000"/>
              </a:spcAft>
              <a:defRPr sz="1800" b="0">
                <a:solidFill>
                  <a:srgbClr val="1C1C1C"/>
                </a:solidFill>
                <a:latin typeface="Calibri"/>
              </a:defRPr>
            </a:pPr>
            <a:r>
              <a:t>Do not say: Do not cut this into only the charming parts. The empty-shelf honesty is why people will trust the pin six months from now.</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1A3A32"/>
        </a:solidFill>
        <a:effectLst/>
      </p:bgPr>
    </p:bg>
    <p:spTree>
      <p:nvGrpSpPr>
        <p:cNvPr id="1" name=""/>
        <p:cNvGrpSpPr/>
        <p:nvPr/>
      </p:nvGrpSpPr>
      <p:grpSpPr/>
      <p:sp>
        <p:nvSpPr>
          <p:cNvPr id="2" name="TextBox 1"/>
          <p:cNvSpPr txBox="1"/>
          <p:nvPr/>
        </p:nvSpPr>
        <p:spPr>
          <a:xfrm>
            <a:off x="640080" y="1463040"/>
            <a:ext cx="10972800" cy="457200"/>
          </a:xfrm>
          <a:prstGeom prst="rect">
            <a:avLst/>
          </a:prstGeom>
          <a:noFill/>
        </p:spPr>
        <p:txBody>
          <a:bodyPr wrap="square"/>
          <a:lstStyle/>
          <a:p>
            <a:pPr>
              <a:spcAft>
                <a:spcPts val="800"/>
              </a:spcAft>
              <a:defRPr sz="1600" b="1">
                <a:solidFill>
                  <a:srgbClr val="F7F2E8"/>
                </a:solidFill>
                <a:latin typeface="Calibri"/>
              </a:defRPr>
            </a:pPr>
            <a:r>
              <a:t>End</a:t>
            </a:r>
          </a:p>
        </p:txBody>
      </p:sp>
      <p:sp>
        <p:nvSpPr>
          <p:cNvPr id="3" name="TextBox 2"/>
          <p:cNvSpPr txBox="1"/>
          <p:nvPr/>
        </p:nvSpPr>
        <p:spPr>
          <a:xfrm>
            <a:off x="640080" y="2011680"/>
            <a:ext cx="10972800" cy="2194560"/>
          </a:xfrm>
          <a:prstGeom prst="rect">
            <a:avLst/>
          </a:prstGeom>
          <a:noFill/>
        </p:spPr>
        <p:txBody>
          <a:bodyPr wrap="square"/>
          <a:lstStyle/>
          <a:p>
            <a:pPr>
              <a:spcAft>
                <a:spcPts val="600"/>
              </a:spcAft>
              <a:defRPr sz="3600" b="1">
                <a:solidFill>
                  <a:srgbClr val="FFFFFF"/>
                </a:solidFill>
                <a:latin typeface="Calibri"/>
              </a:defRPr>
            </a:pPr>
            <a:r>
              <a:t>That’s the full set.</a:t>
            </a:r>
          </a:p>
        </p:txBody>
      </p:sp>
      <p:sp>
        <p:nvSpPr>
          <p:cNvPr id="4" name="TextBox 3"/>
          <p:cNvSpPr txBox="1"/>
          <p:nvPr/>
        </p:nvSpPr>
        <p:spPr>
          <a:xfrm>
            <a:off x="640080" y="4572000"/>
            <a:ext cx="10972800" cy="1463040"/>
          </a:xfrm>
          <a:prstGeom prst="rect">
            <a:avLst/>
          </a:prstGeom>
          <a:noFill/>
        </p:spPr>
        <p:txBody>
          <a:bodyPr wrap="square"/>
          <a:lstStyle/>
          <a:p>
            <a:pPr>
              <a:spcAft>
                <a:spcPts val="800"/>
              </a:spcAft>
              <a:defRPr sz="2000" b="0">
                <a:solidFill>
                  <a:srgbClr val="F7F2E8"/>
                </a:solidFill>
                <a:latin typeface="Calibri"/>
              </a:defRPr>
            </a:pPr>
            <a:r>
              <a:t>Word file has the same words in large type for copy-paste.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